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jpg" ContentType="image/jpeg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Default Extension="fntdata" ContentType="application/x-fontdata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p15="http://schemas.microsoft.com/office/powerpoint/2012/main" xmlns:r="http://schemas.openxmlformats.org/officeDocument/2006/relationships" embedTrueTypeFonts="1">
  <p:sldMasterIdLst>
    <p:sldMasterId id="2147483648" r:id="rId1"/>
    <p:sldMasterId id="2147483660" r:id="rId2"/>
  </p:sldMasterIdLst>
  <p:notesMasterIdLst>
    <p:notesMasterId r:id="rId25"/>
  </p:notesMasterIdLst>
  <p:sldIdLst>
    <p:sldId id="256" r:id="rId3"/>
    <p:sldId id="266" r:id="rId4"/>
    <p:sldId id="267" r:id="rId5"/>
    <p:sldId id="276" r:id="rId6"/>
    <p:sldId id="275" r:id="rId7"/>
    <p:sldId id="292" r:id="rId23"/>
    <p:sldId id="283" r:id="rId15"/>
    <p:sldId id="285" r:id="rId16"/>
    <p:sldId id="289" r:id="rId19"/>
    <p:sldId id="279" r:id="rId10"/>
    <p:sldId id="282" r:id="rId13"/>
    <p:sldId id="280" r:id="rId17"/>
    <p:sldId id="286" r:id="rId18"/>
    <p:sldId id="295" r:id="rId24"/>
  </p:sldIdLst>
  <p:sldSz cx="12192000" cy="6858000"/>
  <p:notesSz cx="6858000" cy="9144000"/>
  <p:embeddedFontLst>
    <p:embeddedFont>
      <p:font typeface="ChillYunmoGothicBold"/>
      <p:regular r:id="rId30"/>
    </p:embeddedFont>
    <p:embeddedFont>
      <p:font typeface="Didot"/>
      <p:regular r:id="rId31"/>
      <p:bold r:id="rId32"/>
    </p:embeddedFont>
    <p:embeddedFont>
      <p:font typeface="JetBrains Mono"/>
      <p:regular r:id="rId33"/>
      <p:bold r:id="rId34"/>
    </p:embeddedFont>
    <p:embeddedFont>
      <p:font typeface="MiSans VF Bold"/>
      <p:regular r:id="rId35"/>
    </p:embeddedFont>
    <p:embeddedFont>
      <p:font typeface="MiSans VF Demibold"/>
      <p:regular r:id="rId36"/>
    </p:embeddedFont>
    <p:embeddedFont>
      <p:font typeface="MiSans VF ExtraLight"/>
      <p:regular r:id="rId37"/>
    </p:embeddedFont>
    <p:embeddedFont>
      <p:font typeface="MiSans VF Light"/>
      <p:regular r:id="rId38"/>
    </p:embeddedFont>
    <p:embeddedFont>
      <p:font typeface="MiSans VF Thin"/>
      <p:regular r:id="rId39"/>
    </p:embeddedFont>
    <p:embeddedFont>
      <p:font typeface="SimHei"/>
      <p:regular r:id="rId40"/>
      <p:bold r:id="rId4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{2D200454-40CA-4A62-9FC3-DE9A4176ACB9}">
      <p15:notesGuideLst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2B1E"/>
    <a:srgbClr val="0D1F2F"/>
    <a:srgbClr val="DAD5E9"/>
    <a:srgbClr val="379CF7"/>
    <a:srgbClr val="0074FD"/>
    <a:srgbClr val="302F31"/>
    <a:srgbClr val="2760C9"/>
    <a:srgbClr val="3172F3"/>
    <a:srgbClr val="FBF8F2"/>
    <a:srgbClr val="FBF8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295"/>
    <p:restoredTop sz="94658"/>
  </p:normalViewPr>
  <p:slideViewPr>
    <p:cSldViewPr snapToGrid="0">
      <p:cViewPr>
        <p:scale>
          <a:sx n="92" d="100"/>
          <a:sy n="92" d="100"/>
        </p:scale>
        <p:origin x="360" y="7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6" d="100"/>
          <a:sy n="96" d="100"/>
        </p:scale>
        <p:origin x="3120" y="176"/>
      </p:cViewPr>
      <p:guideLst/>
    </p:cSldViewPr>
  </p:notesViewPr>
  <p:gridSpacing cx="72008" cy="72008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7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27" Type="http://schemas.openxmlformats.org/officeDocument/2006/relationships/viewProps" Target="viewProps.xml"/><Relationship Id="rId30" Type="http://schemas.openxmlformats.org/officeDocument/2006/relationships/font" Target="fonts/font1.fntdata"/><Relationship Id="rId31" Type="http://schemas.openxmlformats.org/officeDocument/2006/relationships/font" Target="fonts/font2.fntdata"/><Relationship Id="rId32" Type="http://schemas.openxmlformats.org/officeDocument/2006/relationships/font" Target="fonts/font3.fntdata"/><Relationship Id="rId33" Type="http://schemas.openxmlformats.org/officeDocument/2006/relationships/font" Target="fonts/font4.fntdata"/><Relationship Id="rId34" Type="http://schemas.openxmlformats.org/officeDocument/2006/relationships/font" Target="fonts/font5.fntdata"/><Relationship Id="rId35" Type="http://schemas.openxmlformats.org/officeDocument/2006/relationships/font" Target="fonts/font6.fntdata"/><Relationship Id="rId36" Type="http://schemas.openxmlformats.org/officeDocument/2006/relationships/font" Target="fonts/font7.fntdata"/><Relationship Id="rId37" Type="http://schemas.openxmlformats.org/officeDocument/2006/relationships/font" Target="fonts/font8.fntdata"/><Relationship Id="rId38" Type="http://schemas.openxmlformats.org/officeDocument/2006/relationships/font" Target="fonts/font9.fntdata"/><Relationship Id="rId39" Type="http://schemas.openxmlformats.org/officeDocument/2006/relationships/font" Target="fonts/font10.fntdata"/><Relationship Id="rId40" Type="http://schemas.openxmlformats.org/officeDocument/2006/relationships/font" Target="fonts/font11.fntdata"/><Relationship Id="rId41" Type="http://schemas.openxmlformats.org/officeDocument/2006/relationships/font" Target="fonts/font12.fntdata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 lvl="1" algn="ctr">
              <a:lnSpc>
                <a:spcPct val="100000"/>
              </a:lnSpc>
              <a:defRPr sz="1862" b="0" i="0" strike="noStrike">
                <a:solidFill>
                  <a:schemeClr val="tx1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defRPr>
            </a:pPr>
            <a:r>
              <a:rPr lang="zh-CN" sz="1200" b="0" i="0" strike="noStrike" dirty="0">
                <a:solidFill>
                  <a:schemeClr val="tx1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rPr>
              <a:t>终态结构偏度 std/mean（柱标＝数值×100，n=8）</a:t>
            </a:r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v>终态结构偏度</c:v>
          </c:tx>
          <c:spPr>
            <a:solidFill>
              <a:srgbClr val="E62B1E"/>
            </a:solidFill>
            <a:ln/>
          </c:spPr>
          <c:invertIfNegative val="1"/>
          <c:dLbls>
            <c:dLbl>
              <c:idx val="0"/>
              <c:layout>
                <c:manualLayout>
                  <c:x val="7.2735099999999997E-2"/>
                  <c:y val="6.8150299999999997E-3"/>
                </c:manualLayout>
              </c:layout>
              <c:numFmt formatCode="0%" sourceLinked="0"/>
              <c:spPr/>
              <c:txPr>
                <a:bodyPr vert="horz" wrap="square" anchor="ctr" anchorCtr="1"/>
                <a:lstStyle/>
                <a:p>
                  <a:pPr>
                    <a:defRPr sz="1197" b="1" i="0" strike="noStrike">
                      <a:solidFill>
                        <a:srgbClr val="E62B1E"/>
                      </a:solidFill>
                      <a:latin typeface="PingFang SC"/>
                      <a:ea typeface="PingFang SC"/>
                    </a:defRPr>
                  </a:pPr>
                  <a:endParaRPr lang="zh-CN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641-6140-AF81-E43276E2F790}"/>
                </c:ext>
              </c:extLst>
            </c:dLbl>
            <c:dLbl>
              <c:idx val="1"/>
              <c:layout>
                <c:manualLayout>
                  <c:x val="9.2632300000000001E-2"/>
                </c:manualLayout>
              </c:layout>
              <c:numFmt formatCode="0%" sourceLinked="0"/>
              <c:spPr/>
              <c:txPr>
                <a:bodyPr vert="horz" wrap="square" anchor="ctr" anchorCtr="1"/>
                <a:lstStyle/>
                <a:p>
                  <a:pPr>
                    <a:defRPr sz="1197" b="1" i="0" strike="noStrike">
                      <a:solidFill>
                        <a:srgbClr val="E62B1E"/>
                      </a:solidFill>
                      <a:latin typeface="Arial"/>
                      <a:ea typeface="宋体"/>
                    </a:defRPr>
                  </a:pPr>
                  <a:endParaRPr lang="zh-CN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641-6140-AF81-E43276E2F790}"/>
                </c:ext>
              </c:extLst>
            </c:dLbl>
            <c:dLbl>
              <c:idx val="2"/>
              <c:layout>
                <c:manualLayout>
                  <c:x val="7.6077800000000001E-2"/>
                  <c:y val="3.5059599999999998E-3"/>
                </c:manualLayout>
              </c:layout>
              <c:numFmt formatCode="0%" sourceLinked="0"/>
              <c:spPr/>
              <c:txPr>
                <a:bodyPr vert="horz" wrap="square" anchor="ctr" anchorCtr="1"/>
                <a:lstStyle/>
                <a:p>
                  <a:pPr>
                    <a:defRPr sz="1197" b="1" i="0" strike="noStrike">
                      <a:solidFill>
                        <a:srgbClr val="E62B1E"/>
                      </a:solidFill>
                      <a:latin typeface="Arial"/>
                      <a:ea typeface="宋体"/>
                    </a:defRPr>
                  </a:pPr>
                  <a:endParaRPr lang="zh-CN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641-6140-AF81-E43276E2F790}"/>
                </c:ext>
              </c:extLst>
            </c:dLbl>
            <c:dLbl>
              <c:idx val="3"/>
              <c:layout>
                <c:manualLayout>
                  <c:x val="8.0684599999999995E-2"/>
                  <c:y val="-3.3090699999999999E-3"/>
                </c:manualLayout>
              </c:layout>
              <c:numFmt formatCode="0%" sourceLinked="0"/>
              <c:spPr/>
              <c:txPr>
                <a:bodyPr vert="horz" wrap="square" anchor="ctr" anchorCtr="1"/>
                <a:lstStyle/>
                <a:p>
                  <a:pPr>
                    <a:defRPr sz="1197" b="1" i="0" strike="noStrike">
                      <a:solidFill>
                        <a:srgbClr val="E62B1E"/>
                      </a:solidFill>
                      <a:latin typeface="PingFang SC"/>
                      <a:ea typeface="PingFang SC"/>
                    </a:defRPr>
                  </a:pPr>
                  <a:endParaRPr lang="zh-CN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641-6140-AF81-E43276E2F790}"/>
                </c:ext>
              </c:extLst>
            </c:dLbl>
            <c:dLbl>
              <c:idx val="4"/>
              <c:layout>
                <c:manualLayout>
                  <c:x val="7.9240400000000003E-2"/>
                  <c:y val="3.5059599999999998E-3"/>
                </c:manualLayout>
              </c:layout>
              <c:numFmt formatCode="0%" sourceLinked="0"/>
              <c:spPr/>
              <c:txPr>
                <a:bodyPr vert="horz" wrap="square" anchor="ctr" anchorCtr="1"/>
                <a:lstStyle/>
                <a:p>
                  <a:pPr>
                    <a:defRPr sz="1197" b="1" i="0" strike="noStrike">
                      <a:solidFill>
                        <a:srgbClr val="E62B1E"/>
                      </a:solidFill>
                      <a:latin typeface="Arial"/>
                      <a:ea typeface="宋体"/>
                    </a:defRPr>
                  </a:pPr>
                  <a:endParaRPr lang="zh-CN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641-6140-AF81-E43276E2F79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vert="horz" wrap="square" anchor="ctr" anchorCtr="1"/>
              <a:lstStyle/>
              <a:p>
                <a:pPr>
                  <a:defRPr sz="1197" b="0" i="0" strike="noStrike">
                    <a:solidFill>
                      <a:srgbClr val="E62B1E"/>
                    </a:solidFill>
                    <a:latin typeface="Arial"/>
                    <a:ea typeface="宋体"/>
                  </a:defRPr>
                </a:pPr>
                <a:endParaRPr lang="zh-CN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稀缺+不可逆</c:v>
              </c:pt>
              <c:pt idx="1">
                <c:v>仅稀缺</c:v>
              </c:pt>
              <c:pt idx="2">
                <c:v>仅不可逆</c:v>
              </c:pt>
              <c:pt idx="3">
                <c:v>两者皆无</c:v>
              </c:pt>
            </c:strLit>
          </c:cat>
          <c:val>
            <c:numLit>
              <c:formatCode>General</c:formatCode>
              <c:ptCount val="4"/>
              <c:pt idx="0">
                <c:v>0.2913</c:v>
              </c:pt>
              <c:pt idx="1">
                <c:v>0.0</c:v>
              </c:pt>
              <c:pt idx="2">
                <c:v>0.0</c:v>
              </c:pt>
              <c:pt idx="3">
                <c:v>0.0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/>
                </c14:spPr>
              </c14:invertSolidFillFmt>
            </c:ext>
            <c:ext xmlns:c16="http://schemas.microsoft.com/office/drawing/2014/chart" uri="{C3380CC4-5D6E-409C-BE32-E72D297353CC}">
              <c16:uniqueId val="{00000005-9641-6140-AF81-E43276E2F79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548011"/>
        <c:axId val="14548012"/>
      </c:barChart>
      <c:catAx>
        <c:axId val="1454801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noFill/>
          <a:ln w="9525" cap="flat">
            <a:solidFill>
              <a:srgbClr val="D9D9D9">
                <a:alpha val="100000"/>
              </a:srgbClr>
            </a:solidFill>
            <a:round/>
          </a:ln>
          <a:effectLst/>
        </c:spPr>
        <c:txPr>
          <a:bodyPr/>
          <a:lstStyle/>
          <a:p>
            <a:pPr>
              <a:defRPr sz="1197" b="0" i="0" strike="noStrike">
                <a:solidFill>
                  <a:schemeClr val="tx1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defRPr>
            </a:pPr>
            <a:endParaRPr lang="zh-CN"/>
          </a:p>
        </c:txPr>
        <c:crossAx val="14548012"/>
        <c:crosses val="autoZero"/>
        <c:auto val="1"/>
        <c:lblAlgn val="ctr"/>
        <c:lblOffset val="100"/>
        <c:noMultiLvlLbl val="1"/>
      </c:catAx>
      <c:valAx>
        <c:axId val="14548012"/>
        <c:scaling>
          <c:orientation val="minMax"/>
        </c:scaling>
        <c:delete val="1"/>
        <c:axPos val="b"/>
        <c:majorGridlines>
          <c:spPr>
            <a:ln w="6350" cap="flat" cmpd="sng">
              <a:solidFill>
                <a:schemeClr val="tx1">
                  <a:alpha val="50000"/>
                </a:schemeClr>
              </a:solidFill>
              <a:prstDash val="sysDot"/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crossAx val="1454801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 lvl="1" algn="ctr">
              <a:lnSpc>
                <a:spcPct val="100000"/>
              </a:lnSpc>
              <a:defRPr sz="1862" b="0" i="0" strike="noStrike">
                <a:solidFill>
                  <a:schemeClr val="bg1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defRPr>
            </a:pPr>
            <a:r>
              <a:rPr lang="zh-CN" sz="1200" b="0" i="0" strike="noStrike" dirty="0">
                <a:solidFill>
                  <a:schemeClr val="bg1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rPr>
              <a:t>外部引导窗口 vs 终态结构偏度（柱标＝数值×100，n=8）</a:t>
            </a:r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v>终态结构偏度</c:v>
          </c:tx>
          <c:spPr>
            <a:solidFill>
              <a:srgbClr val="E62B1E"/>
            </a:solidFill>
            <a:ln/>
          </c:spPr>
          <c:invertIfNegative val="1"/>
          <c:dLbls>
            <c:dLbl>
              <c:idx val="0"/>
              <c:layout>
                <c:manualLayout>
                  <c:x val="7.2735099999999997E-2"/>
                  <c:y val="6.8150299999999997E-3"/>
                </c:manualLayout>
              </c:layout>
              <c:numFmt formatCode="0%" sourceLinked="0"/>
              <c:spPr/>
              <c:txPr>
                <a:bodyPr vert="horz" wrap="square" anchor="ctr" anchorCtr="1"/>
                <a:lstStyle/>
                <a:p>
                  <a:pPr>
                    <a:defRPr sz="1197" b="1" i="0" strike="noStrike">
                      <a:solidFill>
                        <a:srgbClr val="E62B1E"/>
                      </a:solidFill>
                      <a:latin typeface="PingFang SC"/>
                      <a:ea typeface="PingFang SC"/>
                    </a:defRPr>
                  </a:pPr>
                  <a:endParaRPr lang="zh-CN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1E57-0B42-91F4-8CAA791F2177}"/>
                </c:ext>
              </c:extLst>
            </c:dLbl>
            <c:dLbl>
              <c:idx val="1"/>
              <c:layout>
                <c:manualLayout>
                  <c:x val="9.2632300000000001E-2"/>
                </c:manualLayout>
              </c:layout>
              <c:numFmt formatCode="0%" sourceLinked="0"/>
              <c:spPr/>
              <c:txPr>
                <a:bodyPr vert="horz" wrap="square" anchor="ctr" anchorCtr="1"/>
                <a:lstStyle/>
                <a:p>
                  <a:pPr>
                    <a:defRPr sz="1197" b="1" i="0" strike="noStrike">
                      <a:solidFill>
                        <a:srgbClr val="E62B1E"/>
                      </a:solidFill>
                      <a:latin typeface="Arial"/>
                      <a:ea typeface="宋体"/>
                    </a:defRPr>
                  </a:pPr>
                  <a:endParaRPr lang="zh-CN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E57-0B42-91F4-8CAA791F2177}"/>
                </c:ext>
              </c:extLst>
            </c:dLbl>
            <c:dLbl>
              <c:idx val="2"/>
              <c:layout>
                <c:manualLayout>
                  <c:x val="7.6077800000000001E-2"/>
                  <c:y val="3.5059599999999998E-3"/>
                </c:manualLayout>
              </c:layout>
              <c:numFmt formatCode="0%" sourceLinked="0"/>
              <c:spPr/>
              <c:txPr>
                <a:bodyPr vert="horz" wrap="square" anchor="ctr" anchorCtr="1"/>
                <a:lstStyle/>
                <a:p>
                  <a:pPr>
                    <a:defRPr sz="1197" b="1" i="0" strike="noStrike">
                      <a:solidFill>
                        <a:srgbClr val="E62B1E"/>
                      </a:solidFill>
                      <a:latin typeface="Arial"/>
                      <a:ea typeface="宋体"/>
                    </a:defRPr>
                  </a:pPr>
                  <a:endParaRPr lang="zh-CN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1E57-0B42-91F4-8CAA791F2177}"/>
                </c:ext>
              </c:extLst>
            </c:dLbl>
            <c:dLbl>
              <c:idx val="3"/>
              <c:layout>
                <c:manualLayout>
                  <c:x val="8.0684599999999995E-2"/>
                  <c:y val="-3.3090699999999999E-3"/>
                </c:manualLayout>
              </c:layout>
              <c:numFmt formatCode="0%" sourceLinked="0"/>
              <c:spPr/>
              <c:txPr>
                <a:bodyPr vert="horz" wrap="square" anchor="ctr" anchorCtr="1"/>
                <a:lstStyle/>
                <a:p>
                  <a:pPr>
                    <a:defRPr sz="1197" b="1" i="0" strike="noStrike">
                      <a:solidFill>
                        <a:srgbClr val="E62B1E"/>
                      </a:solidFill>
                      <a:latin typeface="PingFang SC"/>
                      <a:ea typeface="PingFang SC"/>
                    </a:defRPr>
                  </a:pPr>
                  <a:endParaRPr lang="zh-CN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E57-0B42-91F4-8CAA791F2177}"/>
                </c:ext>
              </c:extLst>
            </c:dLbl>
            <c:dLbl>
              <c:idx val="4"/>
              <c:layout>
                <c:manualLayout>
                  <c:x val="7.9240400000000003E-2"/>
                  <c:y val="3.5059599999999998E-3"/>
                </c:manualLayout>
              </c:layout>
              <c:numFmt formatCode="0%" sourceLinked="0"/>
              <c:spPr/>
              <c:txPr>
                <a:bodyPr vert="horz" wrap="square" anchor="ctr" anchorCtr="1"/>
                <a:lstStyle/>
                <a:p>
                  <a:pPr>
                    <a:defRPr sz="1197" b="1" i="0" strike="noStrike">
                      <a:solidFill>
                        <a:srgbClr val="E62B1E"/>
                      </a:solidFill>
                      <a:latin typeface="Arial"/>
                      <a:ea typeface="宋体"/>
                    </a:defRPr>
                  </a:pPr>
                  <a:endParaRPr lang="zh-CN"/>
                </a:p>
              </c:txPr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E57-0B42-91F4-8CAA791F217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 vert="horz" wrap="square" anchor="ctr" anchorCtr="1"/>
              <a:lstStyle/>
              <a:p>
                <a:pPr>
                  <a:defRPr sz="1197" b="0" i="0" strike="noStrike">
                    <a:solidFill>
                      <a:srgbClr val="E62B1E"/>
                    </a:solidFill>
                    <a:latin typeface="Arial"/>
                    <a:ea typeface="宋体"/>
                  </a:defRPr>
                </a:pPr>
                <a:endParaRPr lang="zh-CN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早期0-150撤除</c:v>
              </c:pt>
              <c:pt idx="1">
                <c:v>全程施加</c:v>
              </c:pt>
              <c:pt idx="2">
                <c:v>中期150-300</c:v>
              </c:pt>
              <c:pt idx="3">
                <c:v>晚期300-450</c:v>
              </c:pt>
              <c:pt idx="4">
                <c:v>无引导基线</c:v>
              </c:pt>
            </c:strLit>
          </c:cat>
          <c:val>
            <c:numLit>
              <c:formatCode>General</c:formatCode>
              <c:ptCount val="5"/>
              <c:pt idx="0">
                <c:v>1.0933</c:v>
              </c:pt>
              <c:pt idx="1">
                <c:v>0.8502</c:v>
              </c:pt>
              <c:pt idx="2">
                <c:v>0.5092</c:v>
              </c:pt>
              <c:pt idx="3">
                <c:v>0.3243</c:v>
              </c:pt>
              <c:pt idx="4">
                <c:v>0.2913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/>
                </c14:spPr>
              </c14:invertSolidFillFmt>
            </c:ext>
            <c:ext xmlns:c16="http://schemas.microsoft.com/office/drawing/2014/chart" uri="{C3380CC4-5D6E-409C-BE32-E72D297353CC}">
              <c16:uniqueId val="{00000005-1E57-0B42-91F4-8CAA791F21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100"/>
        <c:axId val="14548011"/>
        <c:axId val="14548012"/>
      </c:barChart>
      <c:catAx>
        <c:axId val="14548011"/>
        <c:scaling>
          <c:orientation val="minMax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noFill/>
          <a:ln w="9525" cap="flat">
            <a:solidFill>
              <a:srgbClr val="D9D9D9">
                <a:alpha val="100000"/>
              </a:srgbClr>
            </a:solidFill>
            <a:round/>
          </a:ln>
          <a:effectLst/>
        </c:spPr>
        <c:txPr>
          <a:bodyPr/>
          <a:lstStyle/>
          <a:p>
            <a:pPr>
              <a:defRPr sz="1197" b="0" i="0" strike="noStrike">
                <a:solidFill>
                  <a:schemeClr val="bg1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defRPr>
            </a:pPr>
            <a:endParaRPr lang="zh-CN"/>
          </a:p>
        </c:txPr>
        <c:crossAx val="14548012"/>
        <c:crosses val="autoZero"/>
        <c:auto val="1"/>
        <c:lblAlgn val="ctr"/>
        <c:lblOffset val="100"/>
        <c:noMultiLvlLbl val="1"/>
      </c:catAx>
      <c:valAx>
        <c:axId val="14548012"/>
        <c:scaling>
          <c:orientation val="minMax"/>
        </c:scaling>
        <c:delete val="1"/>
        <c:axPos val="b"/>
        <c:majorGridlines>
          <c:spPr>
            <a:ln w="6350" cap="flat" cmpd="sng">
              <a:solidFill>
                <a:schemeClr val="bg1">
                  <a:alpha val="50196"/>
                </a:schemeClr>
              </a:solidFill>
              <a:prstDash val="sysDot"/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crossAx val="1454801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18.06.2026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/>
          </a:p>
          <a:p>
            <a:pPr lvl="1"/>
            <a:r>
              <a:rPr lang="en-US"/>
              <a:t>Second level</a:t>
            </a:r>
            <a:endParaRPr/>
          </a:p>
          <a:p>
            <a:pPr lvl="2"/>
            <a:r>
              <a:rPr lang="en-US"/>
              <a:t>Third level</a:t>
            </a:r>
            <a:endParaRPr/>
          </a:p>
          <a:p>
            <a:pPr lvl="3"/>
            <a:r>
              <a:rPr lang="en-US"/>
              <a:t>Fourth level</a:t>
            </a:r>
            <a:endParaRPr/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x0:Relationships xmlns:x0="http://schemas.openxmlformats.org/package/2006/relationships"><x0:Relationship Id="rId1" Type="http://schemas.openxmlformats.org/officeDocument/2006/relationships/notesMaster" Target="../notesMasters/notesMaster1.xml"/><x0:Relationship Id="rId2" Type="http://schemas.openxmlformats.org/officeDocument/2006/relationships/slide" Target="../slides/slide2.xml"/></x0:Relationships>
</file>

<file path=ppt/notesSlides/_rels/notesSlide5.xml.rels><?xml version="1.0" encoding="UTF-8"?><x0:Relationships xmlns:x0="http://schemas.openxmlformats.org/package/2006/relationships"><x0:Relationship Id="rId1" Type="http://schemas.openxmlformats.org/officeDocument/2006/relationships/notesMaster" Target="../notesMasters/notesMaster1.xml"/><x0:Relationship Id="rId2" Type="http://schemas.openxmlformats.org/officeDocument/2006/relationships/slide" Target="../slides/slide3.xml"/></x0:Relationships>
</file>

<file path=ppt/notesSlides/_rels/notesSlide6.xml.rels><?xml version="1.0" encoding="UTF-8"?><x0:Relationships xmlns:x0="http://schemas.openxmlformats.org/package/2006/relationships"><x0:Relationship Id="rId1" Type="http://schemas.openxmlformats.org/officeDocument/2006/relationships/notesMaster" Target="../notesMasters/notesMaster1.xml"/><x0:Relationship Id="rId2" Type="http://schemas.openxmlformats.org/officeDocument/2006/relationships/slide" Target="../slides/slide4.xml"/></x0:Relationships>
</file>

<file path=ppt/notesSlides/_rels/notesSlide7.xml.rels><?xml version="1.0" encoding="UTF-8"?><x0:Relationships xmlns:x0="http://schemas.openxmlformats.org/package/2006/relationships"><x0:Relationship Id="rId1" Type="http://schemas.openxmlformats.org/officeDocument/2006/relationships/notesMaster" Target="../notesMasters/notesMaster1.xml"/><x0:Relationship Id="rId2" Type="http://schemas.openxmlformats.org/officeDocument/2006/relationships/slide" Target="../slides/slide5.xml"/></x0:Relationships>
</file>

<file path=ppt/notesSlides/_rels/notesSlide8.xml.rels><?xml version="1.0" encoding="UTF-8"?><x0:Relationships xmlns:x0="http://schemas.openxmlformats.org/package/2006/relationships"><x0:Relationship Id="rId1" Type="http://schemas.openxmlformats.org/officeDocument/2006/relationships/notesMaster" Target="../notesMasters/notesMaster1.xml"/><x0:Relationship Id="rId2" Type="http://schemas.openxmlformats.org/officeDocument/2006/relationships/slide" Target="../slides/slide8.xml"/></x0:Relationships>
</file>

<file path=ppt/notesSlides/_rels/notesSlide9.xml.rels><?xml version="1.0" encoding="UTF-8"?><x0:Relationships xmlns:x0="http://schemas.openxmlformats.org/package/2006/relationships"><x0:Relationship Id="rId1" Type="http://schemas.openxmlformats.org/officeDocument/2006/relationships/notesMaster" Target="../notesMasters/notesMaster1.xml"/><x0:Relationship Id="rId2" Type="http://schemas.openxmlformats.org/officeDocument/2006/relationships/slide" Target="../slides/slide11.xml"/></x0:Relationships>
</file>

<file path=ppt/notesSlides/_rels/notesSlide10.xml.rels><?xml version="1.0" encoding="UTF-8"?><x0:Relationships xmlns:x0="http://schemas.openxmlformats.org/package/2006/relationships"><x0:Relationship Id="rId1" Type="http://schemas.openxmlformats.org/officeDocument/2006/relationships/notesMaster" Target="../notesMasters/notesMaster1.xml"/><x0:Relationship Id="rId2" Type="http://schemas.openxmlformats.org/officeDocument/2006/relationships/slide" Target="../slides/slide13.xml"/></x0:Relationships>
</file>

<file path=ppt/notesSlides/_rels/notesSlide11.xml.rels><?xml version="1.0" encoding="UTF-8"?><x0:Relationships xmlns:x0="http://schemas.openxmlformats.org/package/2006/relationships"><x0:Relationship Id="rId1" Type="http://schemas.openxmlformats.org/officeDocument/2006/relationships/notesMaster" Target="../notesMasters/notesMaster1.xml"/><x0:Relationship Id="rId2" Type="http://schemas.openxmlformats.org/officeDocument/2006/relationships/slide" Target="../slides/slide14.xml"/></x0:Relationships>
</file>

<file path=ppt/notesSlides/_rels/notesSlide12.xml.rels><?xml version="1.0" encoding="UTF-8"?><x0:Relationships xmlns:x0="http://schemas.openxmlformats.org/package/2006/relationships"><x0:Relationship Id="rId1" Type="http://schemas.openxmlformats.org/officeDocument/2006/relationships/notesMaster" Target="../notesMasters/notesMaster1.xml"/><x0:Relationship Id="rId2" Type="http://schemas.openxmlformats.org/officeDocument/2006/relationships/slide" Target="../slides/slide15.xml"/></x0:Relationships>
</file>

<file path=ppt/notesSlides/_rels/notesSlide13.xml.rels><?xml version="1.0" encoding="UTF-8"?><x0:Relationships xmlns:x0="http://schemas.openxmlformats.org/package/2006/relationships"><x0:Relationship Id="rId1" Type="http://schemas.openxmlformats.org/officeDocument/2006/relationships/notesMaster" Target="../notesMasters/notesMaster1.xml"/><x0:Relationship Id="rId2" Type="http://schemas.openxmlformats.org/officeDocument/2006/relationships/slide" Target="../slides/slide17.xml"/></x0:Relationships>
</file>

<file path=ppt/notesSlides/_rels/notesSlide14.xml.rels><?xml version="1.0" encoding="UTF-8"?><x0:Relationships xmlns:x0="http://schemas.openxmlformats.org/package/2006/relationships"><x0:Relationship Id="rId1" Type="http://schemas.openxmlformats.org/officeDocument/2006/relationships/notesMaster" Target="../notesMasters/notesMaster1.xml"/><x0:Relationship Id="rId2" Type="http://schemas.openxmlformats.org/officeDocument/2006/relationships/slide" Target="../slides/slide21.xml"/></x0: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r>
              <a:rPr lang="zh-CN" dirty="0"/>
              <a:t>开场不要解释项目名，直接念副标题：「会死的数字生命引擎」。停一拍。评委这一秒会愣一下——这个愣，就是我们要的开场。</a:t>
            </a:r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14="http://schemas.microsoft.com/office/powerpoint/2010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zh-CN" dirty="0"/>
              <a:t>金句页，念完停两秒再翻页，不要解释。所有开源 Agent 框架都在问「它能做什么」，我们问的是它在必须取舍、必须记住、而且真的会死的时候，是什么。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1B2431-D351-4C6E-A3CF-9DFAC0E3E050}" type="slidenum">
              <a:rPr lang="cs-CZ" smtClean="0"/>
              <a:t>16</a:t>
            </a:fld>
            <a:endParaRPr lang="cs-CZ"/>
          </a:p>
        </p:txBody>
      </p:sp>
    </p:spTree>
    <p:extLst>
      <p:ext uri="{BB962C8B-B14F-4D97-AF65-F5344CB8AC3E}">
        <p14:creationId val="3720988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a16="http://schemas.microsoft.com/office/drawing/2014/main" xmlns:p14="http://schemas.microsoft.com/office/powerpoint/2010/main" xmlns:p="http://schemas.openxmlformats.org/presentationml/2006/main">
  <p:cSld>
    <p:spTree>
      <p:nvGrpSpPr>
        <p:cNvPr id="1" name="">
          <a:extLst>
            <a:ext uri="{FF2B5EF4-FFF2-40B4-BE49-F238E27FC236}">
              <a16:creationId id="{383C8FB6-6195-6179-89BA-F9E8CB009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>
            <a:extLst>
              <a:ext uri="{FF2B5EF4-FFF2-40B4-BE49-F238E27FC236}">
                <a16:creationId id="{203E0076-4591-FA01-0E9E-41F12149CB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7" name="Date Placeholder 2">
            <a:extLst>
              <a:ext uri="{FF2B5EF4-FFF2-40B4-BE49-F238E27FC236}">
                <a16:creationId id="{7AB087EC-E062-F304-75CF-3015B839A96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8" name="Slide Image Placeholder 3">
            <a:extLst>
              <a:ext uri="{FF2B5EF4-FFF2-40B4-BE49-F238E27FC236}">
                <a16:creationId id="{80B85547-949B-2447-F320-BF5853287B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9" name="Notes Placeholder 4">
            <a:extLst>
              <a:ext uri="{FF2B5EF4-FFF2-40B4-BE49-F238E27FC236}">
                <a16:creationId id="{769C7579-2B7B-E763-BE75-D92F3206D8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r>
              <a:rPr lang="zh-CN" dirty="0"/>
              <a:t>致谢。留时间给提问。</a:t>
            </a:r>
          </a:p>
        </p:txBody>
      </p:sp>
      <p:sp>
        <p:nvSpPr>
          <p:cNvPr id="20" name="Footer Placeholder 5">
            <a:extLst>
              <a:ext uri="{FF2B5EF4-FFF2-40B4-BE49-F238E27FC236}">
                <a16:creationId id="{0490D9AE-7ABB-57A5-43CA-26C3B69BE3D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1" name="Slide Number Placeholder 6">
            <a:extLst>
              <a:ext uri="{FF2B5EF4-FFF2-40B4-BE49-F238E27FC236}">
                <a16:creationId id="{699A35F3-3CE2-A291-2C0E-1CB07B1CAB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  <p:extLst>
      <p:ext uri="{BB962C8B-B14F-4D97-AF65-F5344CB8AC3E}">
        <p14:creationId val="37694504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r>
              <a:rPr lang="zh-CN" dirty="0"/>
              <a:t>快速过目录，十秒讲完。强调今天只讲三件事：换了什么前提、发现了什么、能落到哪。不要在这里展开。</a:t>
            </a:r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r>
              <a:rPr lang="zh-CN" dirty="0"/>
              <a:t>这是全场最重要的铺垫。四个格子不是缺点罗列，是四个默认前提：不会死、不取舍、不留疤。落到右下角那句——没有取舍就没有偏好，没有偏好就长不出结构。</a:t>
            </a:r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r>
              <a:rPr lang="zh-CN" dirty="0"/>
              <a:t>过渡页，一句话带过：下面讲我们换了什么前提。</a:t>
            </a:r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r>
              <a:rPr lang="zh-CN" dirty="0"/>
              <a:t>念出这行大字，慢一点。然后说清楚：我们换的不是模块，是前提。五条约束互为存在条件，缺一条后面全不成立。</a:t>
            </a:r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r>
              <a:rPr lang="zh-CN" dirty="0"/>
              <a:t>落地首选场景。三条命题逐一报结论：门在第 400 拍关上、50 拍即达 89.8% 属阈值型、ratio≥1.0 结构精确归零。务必补一句定位声明：不构成生物学成果，是可复现对照沙盒。</a:t>
            </a:r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r>
              <a:rPr lang="zh-CN" dirty="0"/>
              <a:t>回答评委心里那个问题：这东西怎么用？核心 30 行，不改原框架一行代码。只改一处——原框架说我要多少，现在说我分到了多少。</a:t>
            </a:r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r>
              <a:rPr lang="zh-CN" dirty="0"/>
              <a:t>关键数字是 0.0000，不是 0.2913。请指着后三根柱子说：撤掉任何一条，结构精确归零，不是变小。这证明两条是焊死的。</a:t>
            </a:r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r>
              <a:rPr lang="zh-CN" dirty="0"/>
              <a:t>反直觉的一页。早期引导后撤除 1.0933，强于全程施加 0.8502。机制是不可逆锁死加持续投入摊薄。给一句可执行结论：引导要早，且要敢于撤。</a:t>
            </a:r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r>
              <a:rPr lang="zh-CN" dirty="0"/>
              <a:t>情绪牌。三十秒能编一个可信的成功故事，但编不出 141 条带代码的失败记录。这是我认为开源项目最稀缺的资产类型。</a:t>
            </a:r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r>
              <a:rPr lang="zh-CN" dirty="0"/>
              <a:t>这页是创新一，也是最能证明「结构不是被设计的」的一页。强调决策模块全部为 0，系统中没有任何决策模块。8/8 seeds 符号一致，Δ = −0.1494。</a:t>
            </a:r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r>
              <a:rPr lang="zh-CN" dirty="0"/>
              <a:t>同上（五条硬约束页）。四条逐一念，重点落在「分不到的就是 0」和「只减不增」。</a:t>
            </a:r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/>
          </a:p>
        </p:txBody>
      </p:sp>
      <p:sp>
        <p:nvSpPr>
          <p:cNvPr id="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21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B8B8B8"/>
              </a:buClr>
              <a:buSzPts val="1800"/>
              <a:buNone/>
              <a:defRPr sz="1800">
                <a:solidFill>
                  <a:srgbClr val="B8B8B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8B8B8"/>
              </a:buClr>
              <a:buSzPts val="1500"/>
              <a:buNone/>
              <a:defRPr sz="1500">
                <a:solidFill>
                  <a:srgbClr val="B8B8B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8B8B8"/>
              </a:buClr>
              <a:buSzPts val="1400"/>
              <a:buNone/>
              <a:defRPr sz="1400">
                <a:solidFill>
                  <a:srgbClr val="B8B8B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8B8B8"/>
              </a:buClr>
              <a:buSzPts val="1200"/>
              <a:buNone/>
              <a:defRPr sz="1200">
                <a:solidFill>
                  <a:srgbClr val="B8B8B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8B8B8"/>
              </a:buClr>
              <a:buSzPts val="1200"/>
              <a:buNone/>
              <a:defRPr sz="1200">
                <a:solidFill>
                  <a:srgbClr val="B8B8B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8B8B8"/>
              </a:buClr>
              <a:buSzPts val="1200"/>
              <a:buNone/>
              <a:defRPr sz="1200">
                <a:solidFill>
                  <a:srgbClr val="B8B8B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8B8B8"/>
              </a:buClr>
              <a:buSzPts val="1200"/>
              <a:buNone/>
              <a:defRPr sz="1200">
                <a:solidFill>
                  <a:srgbClr val="B8B8B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8B8B8"/>
              </a:buClr>
              <a:buSzPts val="1200"/>
              <a:buNone/>
              <a:defRPr sz="1200">
                <a:solidFill>
                  <a:srgbClr val="B8B8B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8B8B8"/>
              </a:buClr>
              <a:buSzPts val="1200"/>
              <a:buNone/>
              <a:defRPr sz="1200">
                <a:solidFill>
                  <a:srgbClr val="B8B8B8"/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2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3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27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8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9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0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34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5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6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7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8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9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0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43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5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52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3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4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5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59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r>
              <a:rPr lang="zh-CN" altLang="en-US"/>
              <a:t>单击图标添加图片</a:t>
            </a:r>
            <a:endParaRPr/>
          </a:p>
        </p:txBody>
      </p:sp>
      <p:sp>
        <p:nvSpPr>
          <p:cNvPr id="60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1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2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66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7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9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r>
              <a:rPr lang="zh-CN" altLang="en-US"/>
              <a:t>单击此处编辑母版标题样式</a:t>
            </a:r>
            <a:endParaRPr/>
          </a:p>
        </p:txBody>
      </p:sp>
      <p:sp>
        <p:nvSpPr>
          <p:cNvPr id="15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6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7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?>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3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6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B8B8B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默认主题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F7F7F5"/>
        </a:buClr>
        <a:buFont typeface="Arial"/>
        <a:defRPr sz="1400" b="0" i="0" u="none" strike="noStrike" cap="none">
          <a:solidFill>
            <a:srgbClr val="F7F7F5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?><x0:Relationships xmlns:x0="http://schemas.openxmlformats.org/package/2006/relationships"><x0:Relationship Id="rId1" Type="http://schemas.openxmlformats.org/officeDocument/2006/relationships/slideLayout" Target="../slideLayouts/slideLayout12.xml"/><x0:Relationship Id="rId2" Type="http://schemas.openxmlformats.org/officeDocument/2006/relationships/notesSlide" Target="../notesSlides/notesSlide4.xml"/></x0:Relationships>
</file>

<file path=ppt/slides/_rels/slide3.xml.rels><?xml version="1.0" encoding="UTF-8"?><x0:Relationships xmlns:x0="http://schemas.openxmlformats.org/package/2006/relationships"><x0:Relationship Id="rId1" Type="http://schemas.openxmlformats.org/officeDocument/2006/relationships/slideLayout" Target="../slideLayouts/slideLayout12.xml"/><x0:Relationship Id="rId2" Type="http://schemas.openxmlformats.org/officeDocument/2006/relationships/notesSlide" Target="../notesSlides/notesSlide5.xml"/></x0:Relationships>
</file>

<file path=ppt/slides/_rels/slide4.xml.rels><?xml version="1.0" encoding="UTF-8"?><x0:Relationships xmlns:x0="http://schemas.openxmlformats.org/package/2006/relationships"><x0:Relationship Id="rId1" Type="http://schemas.openxmlformats.org/officeDocument/2006/relationships/slideLayout" Target="../slideLayouts/slideLayout12.xml"/><x0:Relationship Id="rId2" Type="http://schemas.openxmlformats.org/officeDocument/2006/relationships/notesSlide" Target="../notesSlides/notesSlide6.xml"/></x0:Relationships>
</file>

<file path=ppt/slides/_rels/slide5.xml.rels><?xml version="1.0" encoding="UTF-8"?><x0:Relationships xmlns:x0="http://schemas.openxmlformats.org/package/2006/relationships"><x0:Relationship Id="rId2" Type="http://schemas.openxmlformats.org/officeDocument/2006/relationships/image" Target="../media/img_4b6a7b5cf8.jpg"/><x0:Relationship Id="rId1" Type="http://schemas.openxmlformats.org/officeDocument/2006/relationships/slideLayout" Target="../slideLayouts/slideLayout12.xml"/><x0:Relationship Id="rId3" Type="http://schemas.openxmlformats.org/officeDocument/2006/relationships/notesSlide" Target="../notesSlides/notesSlide7.xml"/></x0:Relationships>
</file>

<file path=ppt/slides/_rels/slide8.xml.rels><?xml version="1.0" encoding="UTF-8"?><x0:Relationships xmlns:x0="http://schemas.openxmlformats.org/package/2006/relationships"><x0:Relationship Id="rId3" Type="http://schemas.openxmlformats.org/officeDocument/2006/relationships/image" Target="../media/img_191eb8fe40.jpg"/><x0:Relationship Id="rId2" Type="http://schemas.openxmlformats.org/officeDocument/2006/relationships/image" Target="../media/img_5136e3124b.jpg"/><x0:Relationship Id="rId1" Type="http://schemas.openxmlformats.org/officeDocument/2006/relationships/slideLayout" Target="../slideLayouts/slideLayout12.xml"/><x0:Relationship Id="rId4" Type="http://schemas.openxmlformats.org/officeDocument/2006/relationships/image" Target="../media/img_5fb75e1ac8.jpg"/><x0:Relationship Id="rId5" Type="http://schemas.openxmlformats.org/officeDocument/2006/relationships/notesSlide" Target="../notesSlides/notesSlide8.xml"/></x0:Relationships>
</file>

<file path=ppt/slides/_rels/slide11.xml.rels><?xml version="1.0" encoding="UTF-8"?><x0:Relationships xmlns:x0="http://schemas.openxmlformats.org/package/2006/relationships"><x0:Relationship Id="rId3" Type="http://schemas.openxmlformats.org/officeDocument/2006/relationships/image" Target="../media/img_6a3285b966.jpg"/><x0:Relationship Id="rId2" Type="http://schemas.openxmlformats.org/officeDocument/2006/relationships/image" Target="../media/img_a06492e3c2.jpg"/><x0:Relationship Id="rId1" Type="http://schemas.openxmlformats.org/officeDocument/2006/relationships/slideLayout" Target="../slideLayouts/slideLayout12.xml"/><x0:Relationship Id="rId4" Type="http://schemas.openxmlformats.org/officeDocument/2006/relationships/notesSlide" Target="../notesSlides/notesSlide9.xml"/></x0:Relationships>
</file>

<file path=ppt/slides/_rels/slide13.xml.rels><?xml version="1.0" encoding="UTF-8"?><x0:Relationships xmlns:x0="http://schemas.openxmlformats.org/package/2006/relationships"><x0:Relationship Id="rId2" Type="http://schemas.openxmlformats.org/officeDocument/2006/relationships/chart" Target="../charts/chart1.xml"/><x0:Relationship Id="rId1" Type="http://schemas.openxmlformats.org/officeDocument/2006/relationships/slideLayout" Target="../slideLayouts/slideLayout12.xml"/><x0:Relationship Id="rId3" Type="http://schemas.openxmlformats.org/officeDocument/2006/relationships/notesSlide" Target="../notesSlides/notesSlide10.xml"/></x0:Relationships>
</file>

<file path=ppt/slides/_rels/slide14.xml.rels><?xml version="1.0" encoding="UTF-8"?><x0:Relationships xmlns:x0="http://schemas.openxmlformats.org/package/2006/relationships"><x0:Relationship Id="rId2" Type="http://schemas.openxmlformats.org/officeDocument/2006/relationships/chart" Target="../charts/chart2.xml"/><x0:Relationship Id="rId1" Type="http://schemas.openxmlformats.org/officeDocument/2006/relationships/slideLayout" Target="../slideLayouts/slideLayout12.xml"/><x0:Relationship Id="rId3" Type="http://schemas.openxmlformats.org/officeDocument/2006/relationships/notesSlide" Target="../notesSlides/notesSlide11.xml"/></x0:Relationships>
</file>

<file path=ppt/slides/_rels/slide15.xml.rels><?xml version="1.0" encoding="UTF-8"?><x0:Relationships xmlns:x0="http://schemas.openxmlformats.org/package/2006/relationships"><x0:Relationship Id="rId2" Type="http://schemas.openxmlformats.org/officeDocument/2006/relationships/image" Target="../media/img_710e75c17a.jpg"/><x0:Relationship Id="rId1" Type="http://schemas.openxmlformats.org/officeDocument/2006/relationships/slideLayout" Target="../slideLayouts/slideLayout12.xml"/><x0:Relationship Id="rId3" Type="http://schemas.openxmlformats.org/officeDocument/2006/relationships/notesSlide" Target="../notesSlides/notesSlide12.xml"/></x0:Relationships>
</file>

<file path=ppt/slides/_rels/slide16.xml.rels><?xml version="1.0" encoding="UTF-8"?><Relationships xmlns="http://schemas.openxmlformats.org/package/2006/relationships"><Relationship Id="rId3" Type="http://schemas.openxmlformats.org/officeDocument/2006/relationships/image" Target="../media/img_6f31fb3e0e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17.xml.rels><?xml version="1.0" encoding="UTF-8"?><x0:Relationships xmlns:x0="http://schemas.openxmlformats.org/package/2006/relationships"><x0:Relationship Id="rId2" Type="http://schemas.openxmlformats.org/officeDocument/2006/relationships/image" Target="../media/img_4d242c3aa2.jpg"/><x0:Relationship Id="rId1" Type="http://schemas.openxmlformats.org/officeDocument/2006/relationships/slideLayout" Target="../slideLayouts/slideLayout12.xml"/><x0:Relationship Id="rId3" Type="http://schemas.openxmlformats.org/officeDocument/2006/relationships/notesSlide" Target="../notesSlides/notesSlide13.xml"/></x0:Relationships>
</file>

<file path=ppt/slides/_rels/slide21.xml.rels><?xml version="1.0" encoding="UTF-8"?><x0:Relationships xmlns:x0="http://schemas.openxmlformats.org/package/2006/relationships"><x0:Relationship Id="rId1" Type="http://schemas.openxmlformats.org/officeDocument/2006/relationships/slideLayout" Target="../slideLayouts/slideLayout12.xml"/><x0:Relationship Id="rId2" Type="http://schemas.openxmlformats.org/officeDocument/2006/relationships/notesSlide" Target="../notesSlides/notesSlide14.xml"/></x0:Relationships>
</file>

<file path=ppt/slides/_rels/slide22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a16="http://schemas.microsoft.com/office/drawing/2014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组合 72">
            <a:extLst>
              <a:ext uri="{FF2B5EF4-FFF2-40B4-BE49-F238E27FC236}">
                <a16:creationId id="{B4868360-5BE0-B706-217D-A484EA95B785}"/>
              </a:ext>
            </a:extLst>
          </p:cNvPr>
          <p:cNvGrpSpPr/>
          <p:nvPr/>
        </p:nvGrpSpPr>
        <p:grpSpPr>
          <a:xfrm>
            <a:off x="-239398" y="-1280369"/>
            <a:ext cx="12667766" cy="9418738"/>
            <a:chOff x="-239398" y="-1280369"/>
            <a:chExt cx="12667766" cy="9418738"/>
          </a:xfrm>
        </p:grpSpPr>
        <p:cxnSp>
          <p:nvCxnSpPr>
            <p:cNvPr id="33" name="直线连接符 32">
              <a:extLst>
                <a:ext uri="{FF2B5EF4-FFF2-40B4-BE49-F238E27FC236}">
                  <a16:creationId id="{E6A4CF5F-BCAA-3F83-8003-4A2B5C17A881}"/>
                </a:ext>
              </a:extLst>
            </p:cNvPr>
            <p:cNvCxnSpPr>
              <a:cxnSpLocks/>
            </p:cNvCxnSpPr>
            <p:nvPr/>
          </p:nvCxnSpPr>
          <p:spPr>
            <a:xfrm>
              <a:off x="11945342" y="-1280369"/>
              <a:ext cx="19544" cy="94187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线连接符 36">
              <a:extLst>
                <a:ext uri="{FF2B5EF4-FFF2-40B4-BE49-F238E27FC236}">
                  <a16:creationId id="{F83B50BC-9B7C-7EC1-D931-725CC3F5D2C4}"/>
                </a:ext>
              </a:extLst>
            </p:cNvPr>
            <p:cNvCxnSpPr>
              <a:cxnSpLocks/>
            </p:cNvCxnSpPr>
            <p:nvPr/>
          </p:nvCxnSpPr>
          <p:spPr>
            <a:xfrm>
              <a:off x="243628" y="-1280369"/>
              <a:ext cx="19544" cy="94187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线连接符 37">
              <a:extLst>
                <a:ext uri="{FF2B5EF4-FFF2-40B4-BE49-F238E27FC236}">
                  <a16:creationId id="{34E4D301-CF27-6E77-4A82-BA0663386B3B}"/>
                </a:ext>
              </a:extLst>
            </p:cNvPr>
            <p:cNvCxnSpPr>
              <a:cxnSpLocks/>
            </p:cNvCxnSpPr>
            <p:nvPr/>
          </p:nvCxnSpPr>
          <p:spPr>
            <a:xfrm>
              <a:off x="524797" y="385358"/>
              <a:ext cx="0" cy="60829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线连接符 38">
              <a:extLst>
                <a:ext uri="{FF2B5EF4-FFF2-40B4-BE49-F238E27FC236}">
                  <a16:creationId id="{F4C24A69-4A60-D951-255A-C50ED2F0AF2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13761" y="6442064"/>
              <a:ext cx="12642129" cy="26232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线连接符 39">
              <a:extLst>
                <a:ext uri="{FF2B5EF4-FFF2-40B4-BE49-F238E27FC236}">
                  <a16:creationId id="{57F23C9E-0A23-BE51-9C7B-4766D84889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39398" y="359072"/>
              <a:ext cx="12667766" cy="26286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线连接符 60">
              <a:extLst>
                <a:ext uri="{FF2B5EF4-FFF2-40B4-BE49-F238E27FC236}">
                  <a16:creationId id="{C1B4DD0B-12C4-B6A0-9943-44B56612091F}"/>
                </a:ext>
              </a:extLst>
            </p:cNvPr>
            <p:cNvCxnSpPr>
              <a:cxnSpLocks/>
            </p:cNvCxnSpPr>
            <p:nvPr/>
          </p:nvCxnSpPr>
          <p:spPr>
            <a:xfrm>
              <a:off x="6074941" y="-1280369"/>
              <a:ext cx="19544" cy="94187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线连接符 69">
              <a:extLst>
                <a:ext uri="{FF2B5EF4-FFF2-40B4-BE49-F238E27FC236}">
                  <a16:creationId id="{D9F1B0E6-721B-522D-8C9D-7B58CDD0FE99}"/>
                </a:ext>
              </a:extLst>
            </p:cNvPr>
            <p:cNvCxnSpPr>
              <a:cxnSpLocks/>
            </p:cNvCxnSpPr>
            <p:nvPr/>
          </p:nvCxnSpPr>
          <p:spPr>
            <a:xfrm>
              <a:off x="11733284" y="359233"/>
              <a:ext cx="0" cy="60829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线连接符 71">
              <a:extLst>
                <a:ext uri="{FF2B5EF4-FFF2-40B4-BE49-F238E27FC236}">
                  <a16:creationId id="{F3C9A988-2C5B-293E-009C-4C22CE4DA3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39398" y="3426122"/>
              <a:ext cx="12667766" cy="26286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AutoShape 2"/>
          <p:cNvSpPr/>
          <p:nvPr/>
        </p:nvSpPr>
        <p:spPr>
          <a:xfrm>
            <a:off x="524799" y="3723169"/>
            <a:ext cx="11208481" cy="1795363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b" anchorCtr="0">
            <a:spAutoFit/>
          </a:bodyPr>
          <a:lstStyle/>
          <a:p>
            <a:pPr>
              <a:lnSpc>
                <a:spcPts val="7000"/>
              </a:lnSpc>
              <a:defRPr/>
            </a:pPr>
            <a:r>
              <a:rPr lang="zh-CN" altLang="en-US" sz="6200" b="1" dirty="0">
                <a:solidFill>
                  <a:srgbClr val="FF2B20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ChillYunmoGothicBold"/>
              </a:rPr>
              <a:t>洛神 O1</a:t>
            </a:r>
            <a:endParaRPr lang="en-US" altLang="zh-CN" sz="6200" b="1" dirty="0">
              <a:solidFill>
                <a:srgbClr val="FF2B20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</a:endParaRPr>
          </a:p>
          <a:p>
            <a:pPr>
              <a:lnSpc>
                <a:spcPts val="7000"/>
              </a:lnSpc>
              <a:defRPr/>
            </a:pPr>
            <a:r>
              <a:rPr lang="en-US" altLang="zh-CN" sz="6200" b="1" dirty="0">
                <a:solidFill>
                  <a:srgbClr val="FF2B20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ChillYunmoGothicBold"/>
              </a:rPr>
              <a:t>会死的数字生命引擎</a:t>
            </a:r>
          </a:p>
        </p:txBody>
      </p:sp>
      <p:grpSp>
        <p:nvGrpSpPr>
          <p:cNvPr id="2" name="组合 1">
            <a:extLst>
              <a:ext uri="{FF2B5EF4-FFF2-40B4-BE49-F238E27FC236}">
                <a16:creationId id="{BC170B34-4A13-6735-C30F-56AF1D5FAC87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569459A1-D112-6EBA-6FBA-5D1165D6B156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F2B20"/>
                  </a:solidFill>
                  <a:latin typeface="MiSans VF Demibold" pitchFamily="2" charset="-122"/>
                  <a:ea typeface="MiSans VF Demibold" pitchFamily="2" charset="-122"/>
                  <a:cs typeface="MiSans VF Demibold" pitchFamily="2" charset="-122"/>
                  <a:sym typeface="JetBrains Mono"/>
                </a:rPr>
                <a:t>LUOSHEN O1</a:t>
              </a:r>
              <a:r>
                <a:rPr lang="zh-CN" altLang="en-US" sz="800" dirty="0">
                  <a:solidFill>
                    <a:srgbClr val="FF2B20"/>
                  </a:solidFill>
                  <a:latin typeface="MiSans VF Demibold" pitchFamily="2" charset="-122"/>
                  <a:ea typeface="MiSans VF Demibold" pitchFamily="2" charset="-122"/>
                  <a:cs typeface="MiSans VF Demibold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FF2B20"/>
                  </a:solidFill>
                  <a:latin typeface="MiSans VF Demibold" pitchFamily="2" charset="-122"/>
                  <a:ea typeface="MiSans VF Demibold" pitchFamily="2" charset="-122"/>
                  <a:cs typeface="MiSans VF Demibold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F2B20"/>
                </a:solidFill>
                <a:latin typeface="MiSans VF Demibold" pitchFamily="2" charset="-122"/>
                <a:ea typeface="MiSans VF Demibold" pitchFamily="2" charset="-122"/>
                <a:cs typeface="MiSans VF Demibold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82278280-D815-9EFB-15CD-104DBD4B3A52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FF2B20"/>
                  </a:solidFill>
                  <a:latin typeface="MiSans VF Demibold" pitchFamily="2" charset="-122"/>
                  <a:ea typeface="MiSans VF Demibold" pitchFamily="2" charset="-122"/>
                  <a:cs typeface="MiSans VF Demibold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FF2B20"/>
                </a:solidFill>
                <a:latin typeface="MiSans VF Demibold" pitchFamily="2" charset="-122"/>
                <a:ea typeface="MiSans VF Demibold" pitchFamily="2" charset="-122"/>
                <a:cs typeface="MiSans VF Demibold" pitchFamily="2" charset="-122"/>
              </a:endParaRPr>
            </a:p>
          </p:txBody>
        </p:sp>
        <p:sp>
          <p:nvSpPr>
            <p:cNvPr id="5" name="AutoShape 2">
              <a:extLst>
                <a:ext uri="{FF2B5EF4-FFF2-40B4-BE49-F238E27FC236}">
                  <a16:creationId id="{8DB7939E-5293-6184-1F93-40AFB68BEB5E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F2B20"/>
                  </a:solidFill>
                  <a:latin typeface="MiSans VF Demibold" pitchFamily="2" charset="-122"/>
                  <a:ea typeface="MiSans VF Demibold" pitchFamily="2" charset="-122"/>
                  <a:cs typeface="MiSans VF Demibold" pitchFamily="2" charset="-122"/>
                  <a:sym typeface="JetBrains Mono"/>
                </a:rPr>
                <a:t>COVER</a:t>
              </a:r>
              <a:endParaRPr lang="en-US" sz="800" dirty="0">
                <a:solidFill>
                  <a:srgbClr val="FF2B20"/>
                </a:solidFill>
                <a:latin typeface="MiSans VF Demibold" pitchFamily="2" charset="-122"/>
                <a:ea typeface="MiSans VF Demibold" pitchFamily="2" charset="-122"/>
                <a:cs typeface="MiSans VF Demibold" pitchFamily="2" charset="-122"/>
              </a:endParaRPr>
            </a:p>
          </p:txBody>
        </p:sp>
      </p:grpSp>
      <p:sp>
        <p:nvSpPr>
          <p:cNvPr id="6" name="AutoShape 2">
            <a:extLst>
              <a:ext uri="{FF2B5EF4-FFF2-40B4-BE49-F238E27FC236}">
                <a16:creationId id="{7C0006EC-CC3D-497B-D876-216324E86DD4}"/>
              </a:ext>
            </a:extLst>
          </p:cNvPr>
          <p:cNvSpPr/>
          <p:nvPr/>
        </p:nvSpPr>
        <p:spPr>
          <a:xfrm>
            <a:off x="524799" y="5532387"/>
            <a:ext cx="11208481" cy="897682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b" anchorCtr="0">
            <a:spAutoFit/>
          </a:bodyPr>
          <a:lstStyle/>
          <a:p>
            <a:pPr>
              <a:lnSpc>
                <a:spcPts val="7000"/>
              </a:lnSpc>
              <a:defRPr/>
            </a:pPr>
            <a:r>
              <a:rPr lang="en-US" altLang="zh-CN" sz="6200" dirty="0">
                <a:solidFill>
                  <a:srgbClr val="F7F7F5"/>
                </a:solidFill>
                <a:latin typeface="MiSans VF ExtraLight" pitchFamily="2" charset="-122"/>
                <a:ea typeface="MiSans VF ExtraLight" pitchFamily="2" charset="-122"/>
                <a:cs typeface="MiSans VF ExtraLight" pitchFamily="2" charset="-122"/>
                <a:sym typeface="ChillYunmoGothicBold"/>
              </a:rPr>
              <a:t>开源基础软件与解决方案 · 路演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组合 17">
            <a:extLst>
              <a:ext uri="{FF2B5EF4-FFF2-40B4-BE49-F238E27FC236}">
                <a16:creationId id="{CB4BB6DB-9838-20C6-27C3-3D251855BBD2}"/>
              </a:ext>
            </a:extLst>
          </p:cNvPr>
          <p:cNvGrpSpPr/>
          <p:nvPr/>
        </p:nvGrpSpPr>
        <p:grpSpPr>
          <a:xfrm>
            <a:off x="6296904" y="2458343"/>
            <a:ext cx="5437675" cy="585457"/>
            <a:chOff x="6296904" y="2086306"/>
            <a:chExt cx="5437675" cy="585457"/>
          </a:xfrm>
        </p:grpSpPr>
        <p:sp>
          <p:nvSpPr>
            <p:cNvPr id="9" name="AutoShape 4">
              <a:extLst>
                <a:ext uri="{FF2B5EF4-FFF2-40B4-BE49-F238E27FC236}">
                  <a16:creationId id="{F0949F24-5985-E338-F0C3-6F0ECAC9D52F}"/>
                </a:ext>
              </a:extLst>
            </p:cNvPr>
            <p:cNvSpPr/>
            <p:nvPr/>
          </p:nvSpPr>
          <p:spPr>
            <a:xfrm>
              <a:off x="6296904" y="2086306"/>
              <a:ext cx="4258422" cy="283219"/>
            </a:xfrm>
            <a:prstGeom prst="roundRect">
              <a:avLst>
                <a:gd name="adj" fmla="val 0"/>
              </a:avLst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zh-CN" altLang="en-US" sz="1600" dirty="0">
                  <a:solidFill>
                    <a:srgbClr val="F7F7F5"/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ChillYunmoGothicBold"/>
                </a:rPr>
                <a:t/>
              </a:r>
              <a:endParaRPr lang="zh-CN" altLang="en-US" sz="1600" dirty="0">
                <a:solidFill>
                  <a:srgbClr val="F7F7F5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endParaRPr>
            </a:p>
          </p:txBody>
        </p:sp>
        <p:sp>
          <p:nvSpPr>
            <p:cNvPr id="10" name="AutoShape 4">
              <a:extLst>
                <a:ext uri="{FF2B5EF4-FFF2-40B4-BE49-F238E27FC236}">
                  <a16:creationId id="{8DF223B4-07E0-CEA1-B839-957F95B1F669}"/>
                </a:ext>
              </a:extLst>
            </p:cNvPr>
            <p:cNvSpPr/>
            <p:nvPr/>
          </p:nvSpPr>
          <p:spPr>
            <a:xfrm>
              <a:off x="10948737" y="2086306"/>
              <a:ext cx="785842" cy="283219"/>
            </a:xfrm>
            <a:prstGeom prst="roundRect">
              <a:avLst>
                <a:gd name="adj" fmla="val 0"/>
              </a:avLst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altLang="zh-CN" sz="1600" dirty="0">
                  <a:solidFill>
                    <a:srgbClr val="FF2B20"/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SimHei"/>
                </a:rPr>
                <a:t>001</a:t>
              </a:r>
              <a:endParaRPr lang="zh-CN" altLang="en-US" sz="1600" dirty="0">
                <a:solidFill>
                  <a:srgbClr val="FF2B20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endParaRPr>
            </a:p>
          </p:txBody>
        </p:sp>
        <p:cxnSp>
          <p:nvCxnSpPr>
            <p:cNvPr id="17" name="直线连接符 16">
              <a:extLst>
                <a:ext uri="{FF2B5EF4-FFF2-40B4-BE49-F238E27FC236}">
                  <a16:creationId id="{759C4A03-D3AD-6D05-1EC9-F3E8379EA744}"/>
                </a:ext>
              </a:extLst>
            </p:cNvPr>
            <p:cNvCxnSpPr/>
            <p:nvPr/>
          </p:nvCxnSpPr>
          <p:spPr>
            <a:xfrm>
              <a:off x="6296904" y="2671763"/>
              <a:ext cx="5437675" cy="0"/>
            </a:xfrm>
            <a:prstGeom prst="line">
              <a:avLst/>
            </a:prstGeom>
            <a:ln>
              <a:solidFill>
                <a:srgbClr val="F7F7F5">
                  <a:alpha val="1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组合 18">
            <a:extLst>
              <a:ext uri="{FF2B5EF4-FFF2-40B4-BE49-F238E27FC236}">
                <a16:creationId id="{2130F0B5-3E73-D18A-1521-03180D0145E8}"/>
              </a:ext>
            </a:extLst>
          </p:cNvPr>
          <p:cNvGrpSpPr/>
          <p:nvPr/>
        </p:nvGrpSpPr>
        <p:grpSpPr>
          <a:xfrm>
            <a:off x="6296904" y="3345341"/>
            <a:ext cx="5437675" cy="585457"/>
            <a:chOff x="6296904" y="2086306"/>
            <a:chExt cx="5437675" cy="585457"/>
          </a:xfrm>
        </p:grpSpPr>
        <p:sp>
          <p:nvSpPr>
            <p:cNvPr id="20" name="AutoShape 4">
              <a:extLst>
                <a:ext uri="{FF2B5EF4-FFF2-40B4-BE49-F238E27FC236}">
                  <a16:creationId id="{808D2D52-C3E2-73A5-D402-64D0C0104B69}"/>
                </a:ext>
              </a:extLst>
            </p:cNvPr>
            <p:cNvSpPr/>
            <p:nvPr/>
          </p:nvSpPr>
          <p:spPr>
            <a:xfrm>
              <a:off x="6296904" y="2086306"/>
              <a:ext cx="4258422" cy="283219"/>
            </a:xfrm>
            <a:prstGeom prst="roundRect">
              <a:avLst>
                <a:gd name="adj" fmla="val 0"/>
              </a:avLst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zh-CN" altLang="en-US" sz="1600" dirty="0">
                  <a:solidFill>
                    <a:srgbClr val="F7F7F5"/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ChillYunmoGothicBold"/>
                </a:rPr>
                <a:t>换掉前提：五条硬约束</a:t>
              </a:r>
              <a:endParaRPr lang="zh-CN" altLang="en-US" sz="1600" dirty="0">
                <a:solidFill>
                  <a:srgbClr val="F7F7F5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endParaRPr>
            </a:p>
          </p:txBody>
        </p:sp>
        <p:sp>
          <p:nvSpPr>
            <p:cNvPr id="21" name="AutoShape 4">
              <a:extLst>
                <a:ext uri="{FF2B5EF4-FFF2-40B4-BE49-F238E27FC236}">
                  <a16:creationId id="{2A1C39EB-9118-9003-93DC-480EA33B409E}"/>
                </a:ext>
              </a:extLst>
            </p:cNvPr>
            <p:cNvSpPr/>
            <p:nvPr/>
          </p:nvSpPr>
          <p:spPr>
            <a:xfrm>
              <a:off x="10948737" y="2086306"/>
              <a:ext cx="785842" cy="283219"/>
            </a:xfrm>
            <a:prstGeom prst="roundRect">
              <a:avLst>
                <a:gd name="adj" fmla="val 0"/>
              </a:avLst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altLang="zh-CN" sz="1600" dirty="0">
                  <a:solidFill>
                    <a:srgbClr val="FF2B20"/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SimHei"/>
                </a:rPr>
                <a:t>002</a:t>
              </a:r>
              <a:endParaRPr lang="zh-CN" altLang="en-US" sz="1600" dirty="0">
                <a:solidFill>
                  <a:srgbClr val="FF2B20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endParaRPr>
            </a:p>
          </p:txBody>
        </p:sp>
        <p:cxnSp>
          <p:nvCxnSpPr>
            <p:cNvPr id="23" name="直线连接符 22">
              <a:extLst>
                <a:ext uri="{FF2B5EF4-FFF2-40B4-BE49-F238E27FC236}">
                  <a16:creationId id="{0F791CA2-B4DA-F22B-EF68-8854C4C441D9}"/>
                </a:ext>
              </a:extLst>
            </p:cNvPr>
            <p:cNvCxnSpPr/>
            <p:nvPr/>
          </p:nvCxnSpPr>
          <p:spPr>
            <a:xfrm>
              <a:off x="6296904" y="2671763"/>
              <a:ext cx="5437675" cy="0"/>
            </a:xfrm>
            <a:prstGeom prst="line">
              <a:avLst/>
            </a:prstGeom>
            <a:ln>
              <a:solidFill>
                <a:srgbClr val="F7F7F5">
                  <a:alpha val="1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组合 27">
            <a:extLst>
              <a:ext uri="{FF2B5EF4-FFF2-40B4-BE49-F238E27FC236}">
                <a16:creationId id="{2051B058-8058-3146-96BE-F61A0BFDAC6A}"/>
              </a:ext>
            </a:extLst>
          </p:cNvPr>
          <p:cNvGrpSpPr/>
          <p:nvPr/>
        </p:nvGrpSpPr>
        <p:grpSpPr>
          <a:xfrm>
            <a:off x="6296904" y="4232339"/>
            <a:ext cx="5437675" cy="585457"/>
            <a:chOff x="6296904" y="2086306"/>
            <a:chExt cx="5437675" cy="585457"/>
          </a:xfrm>
        </p:grpSpPr>
        <p:sp>
          <p:nvSpPr>
            <p:cNvPr id="29" name="AutoShape 4">
              <a:extLst>
                <a:ext uri="{FF2B5EF4-FFF2-40B4-BE49-F238E27FC236}">
                  <a16:creationId id="{76A3AC50-E763-6E4D-A6AD-4A411AE35E8B}"/>
                </a:ext>
              </a:extLst>
            </p:cNvPr>
            <p:cNvSpPr/>
            <p:nvPr/>
          </p:nvSpPr>
          <p:spPr>
            <a:xfrm>
              <a:off x="6296904" y="2086306"/>
              <a:ext cx="4258422" cy="283219"/>
            </a:xfrm>
            <a:prstGeom prst="roundRect">
              <a:avLst>
                <a:gd name="adj" fmla="val 0"/>
              </a:avLst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zh-CN" altLang="en-US" sz="1600" dirty="0">
                  <a:solidFill>
                    <a:srgbClr val="F7F7F5"/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SimHei"/>
                </a:rPr>
                <a:t>三项发现：结构从哪来</a:t>
              </a:r>
            </a:p>
          </p:txBody>
        </p:sp>
        <p:sp>
          <p:nvSpPr>
            <p:cNvPr id="30" name="AutoShape 4">
              <a:extLst>
                <a:ext uri="{FF2B5EF4-FFF2-40B4-BE49-F238E27FC236}">
                  <a16:creationId id="{CED8087A-FD78-B78B-FFBF-D9CECEF9B264}"/>
                </a:ext>
              </a:extLst>
            </p:cNvPr>
            <p:cNvSpPr/>
            <p:nvPr/>
          </p:nvSpPr>
          <p:spPr>
            <a:xfrm>
              <a:off x="10948737" y="2086306"/>
              <a:ext cx="785842" cy="283219"/>
            </a:xfrm>
            <a:prstGeom prst="roundRect">
              <a:avLst>
                <a:gd name="adj" fmla="val 0"/>
              </a:avLst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altLang="zh-CN" sz="1600" dirty="0">
                  <a:solidFill>
                    <a:srgbClr val="FF2B20"/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SimHei"/>
                </a:rPr>
                <a:t>003</a:t>
              </a:r>
              <a:endParaRPr lang="zh-CN" altLang="en-US" sz="1600" dirty="0">
                <a:solidFill>
                  <a:srgbClr val="FF2B20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endParaRPr>
            </a:p>
          </p:txBody>
        </p:sp>
        <p:cxnSp>
          <p:nvCxnSpPr>
            <p:cNvPr id="32" name="直线连接符 31">
              <a:extLst>
                <a:ext uri="{FF2B5EF4-FFF2-40B4-BE49-F238E27FC236}">
                  <a16:creationId id="{02F0D38B-DCBE-2BAD-0B1F-BDBE88B09B40}"/>
                </a:ext>
              </a:extLst>
            </p:cNvPr>
            <p:cNvCxnSpPr/>
            <p:nvPr/>
          </p:nvCxnSpPr>
          <p:spPr>
            <a:xfrm>
              <a:off x="6296904" y="2671763"/>
              <a:ext cx="5437675" cy="0"/>
            </a:xfrm>
            <a:prstGeom prst="line">
              <a:avLst/>
            </a:prstGeom>
            <a:ln>
              <a:solidFill>
                <a:srgbClr val="F7F7F5">
                  <a:alpha val="1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组合 36">
            <a:extLst>
              <a:ext uri="{FF2B5EF4-FFF2-40B4-BE49-F238E27FC236}">
                <a16:creationId id="{7EBFA1EC-73D8-5AC9-F9B5-E5EE4CA76101}"/>
              </a:ext>
            </a:extLst>
          </p:cNvPr>
          <p:cNvGrpSpPr/>
          <p:nvPr/>
        </p:nvGrpSpPr>
        <p:grpSpPr>
          <a:xfrm>
            <a:off x="6296904" y="5119339"/>
            <a:ext cx="5437675" cy="585457"/>
            <a:chOff x="6296904" y="2086306"/>
            <a:chExt cx="5437675" cy="585457"/>
          </a:xfrm>
        </p:grpSpPr>
        <p:sp>
          <p:nvSpPr>
            <p:cNvPr id="38" name="AutoShape 4">
              <a:extLst>
                <a:ext uri="{FF2B5EF4-FFF2-40B4-BE49-F238E27FC236}">
                  <a16:creationId id="{9BCDDA64-556B-3A40-E60C-C84C51248CD0}"/>
                </a:ext>
              </a:extLst>
            </p:cNvPr>
            <p:cNvSpPr/>
            <p:nvPr/>
          </p:nvSpPr>
          <p:spPr>
            <a:xfrm>
              <a:off x="6296904" y="2086306"/>
              <a:ext cx="4258422" cy="283219"/>
            </a:xfrm>
            <a:prstGeom prst="roundRect">
              <a:avLst>
                <a:gd name="adj" fmla="val 0"/>
              </a:avLst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zh-CN" altLang="en-US" sz="1600" dirty="0">
                  <a:solidFill>
                    <a:srgbClr val="F7F7F5"/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ChillYunmoGothicBold"/>
                </a:rPr>
                <a:t>落地：生物科学与 Agent 治理</a:t>
              </a:r>
              <a:endParaRPr lang="zh-CN" altLang="en-US" sz="1600" dirty="0">
                <a:solidFill>
                  <a:srgbClr val="F7F7F5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endParaRPr>
            </a:p>
          </p:txBody>
        </p:sp>
        <p:sp>
          <p:nvSpPr>
            <p:cNvPr id="39" name="AutoShape 4">
              <a:extLst>
                <a:ext uri="{FF2B5EF4-FFF2-40B4-BE49-F238E27FC236}">
                  <a16:creationId id="{193E80F7-18B6-D21A-3BE1-C774719DE225}"/>
                </a:ext>
              </a:extLst>
            </p:cNvPr>
            <p:cNvSpPr/>
            <p:nvPr/>
          </p:nvSpPr>
          <p:spPr>
            <a:xfrm>
              <a:off x="10948737" y="2086306"/>
              <a:ext cx="785842" cy="283219"/>
            </a:xfrm>
            <a:prstGeom prst="roundRect">
              <a:avLst>
                <a:gd name="adj" fmla="val 0"/>
              </a:avLst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altLang="zh-CN" sz="1600" dirty="0">
                  <a:solidFill>
                    <a:srgbClr val="FF2B20"/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SimHei"/>
                </a:rPr>
                <a:t>004</a:t>
              </a:r>
              <a:endParaRPr lang="zh-CN" altLang="en-US" sz="1600" dirty="0">
                <a:solidFill>
                  <a:srgbClr val="FF2B20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endParaRPr>
            </a:p>
          </p:txBody>
        </p:sp>
        <p:cxnSp>
          <p:nvCxnSpPr>
            <p:cNvPr id="41" name="直线连接符 40">
              <a:extLst>
                <a:ext uri="{FF2B5EF4-FFF2-40B4-BE49-F238E27FC236}">
                  <a16:creationId id="{002079F8-2DCD-9A60-85DD-72F2903D16CE}"/>
                </a:ext>
              </a:extLst>
            </p:cNvPr>
            <p:cNvCxnSpPr/>
            <p:nvPr/>
          </p:nvCxnSpPr>
          <p:spPr>
            <a:xfrm>
              <a:off x="6296904" y="2671763"/>
              <a:ext cx="5437675" cy="0"/>
            </a:xfrm>
            <a:prstGeom prst="line">
              <a:avLst/>
            </a:prstGeom>
            <a:ln>
              <a:solidFill>
                <a:srgbClr val="F7F7F5">
                  <a:alpha val="1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>
            <a:extLst>
              <a:ext uri="{FF2B5EF4-FFF2-40B4-BE49-F238E27FC236}">
                <a16:creationId id="{DB6EFA9D-3594-1092-B261-6844C09685AA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C7F46DDF-DCCE-5DC5-26DD-BF864D1CBC74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zh-CN" alt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A3779FDC-2C21-78DA-D5DA-6E5FA2AC6312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  <p:sp>
          <p:nvSpPr>
            <p:cNvPr id="5" name="AutoShape 2">
              <a:extLst>
                <a:ext uri="{FF2B5EF4-FFF2-40B4-BE49-F238E27FC236}">
                  <a16:creationId id="{1CF940C9-B263-B1F5-82D6-F87E478E7360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CONTENTS</a:t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</p:grpSp>
      <p:sp>
        <p:nvSpPr>
          <p:cNvPr id="7" name="AutoShape 2">
            <a:extLst>
              <a:ext uri="{FF2B5EF4-FFF2-40B4-BE49-F238E27FC236}">
                <a16:creationId id="{0D519639-E371-3D6E-B73E-2F14B73EC3BA}"/>
              </a:ext>
            </a:extLst>
          </p:cNvPr>
          <p:cNvSpPr/>
          <p:nvPr/>
        </p:nvSpPr>
        <p:spPr>
          <a:xfrm>
            <a:off x="524800" y="2858627"/>
            <a:ext cx="5115514" cy="615553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spAutoFit/>
          </a:bodyPr>
          <a:lstStyle/>
          <a:p>
            <a:pPr>
              <a:defRPr/>
            </a:pPr>
            <a:r>
              <a:rPr lang="zh-CN" altLang="en-US" sz="4000" b="1" dirty="0">
                <a:solidFill>
                  <a:srgbClr val="FF2B20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ChillYunmoGothicBold"/>
              </a:rPr>
              <a:t>目录</a:t>
            </a:r>
            <a:endParaRPr lang="en-US" altLang="zh-CN" sz="4000" b="1" dirty="0">
              <a:solidFill>
                <a:srgbClr val="FF2B20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ChillYunmoGothicBold"/>
            </a:endParaRPr>
          </a:p>
        </p:txBody>
      </p:sp>
      <p:sp>
        <p:nvSpPr>
          <p:cNvPr id="16" name="AutoShape 2">
            <a:extLst>
              <a:ext uri="{FF2B5EF4-FFF2-40B4-BE49-F238E27FC236}">
                <a16:creationId id="{3BDD129E-F413-FFDF-12E0-F8CDCC74BE06}"/>
              </a:ext>
            </a:extLst>
          </p:cNvPr>
          <p:cNvSpPr/>
          <p:nvPr/>
        </p:nvSpPr>
        <p:spPr>
          <a:xfrm>
            <a:off x="524797" y="6295670"/>
            <a:ext cx="3077046" cy="141577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en-US" altLang="zh-CN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rPr>
              <a:t/>
            </a:r>
            <a:endParaRPr lang="en-US" sz="800" dirty="0">
              <a:solidFill>
                <a:srgbClr val="F7F7F5">
                  <a:alpha val="5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JetBrains Mono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id="{88CBE3E2-9009-87CF-D217-4DA239458CEA}"/>
              </a:ext>
            </a:extLst>
          </p:cNvPr>
          <p:cNvGrpSpPr/>
          <p:nvPr/>
        </p:nvGrpSpPr>
        <p:grpSpPr>
          <a:xfrm>
            <a:off x="6296904" y="1571345"/>
            <a:ext cx="5437675" cy="585457"/>
            <a:chOff x="6296904" y="2086306"/>
            <a:chExt cx="5437675" cy="585457"/>
          </a:xfrm>
        </p:grpSpPr>
        <p:sp>
          <p:nvSpPr>
            <p:cNvPr id="47" name="AutoShape 4">
              <a:extLst>
                <a:ext uri="{FF2B5EF4-FFF2-40B4-BE49-F238E27FC236}">
                  <a16:creationId id="{26F34F07-9C06-78A8-62FD-F8663EA9FF1C}"/>
                </a:ext>
              </a:extLst>
            </p:cNvPr>
            <p:cNvSpPr/>
            <p:nvPr/>
          </p:nvSpPr>
          <p:spPr>
            <a:xfrm>
              <a:off x="6296904" y="2086306"/>
              <a:ext cx="4258422" cy="283219"/>
            </a:xfrm>
            <a:prstGeom prst="roundRect">
              <a:avLst>
                <a:gd name="adj" fmla="val 0"/>
              </a:avLst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zh-CN" altLang="en-US" sz="1600" dirty="0">
                  <a:solidFill>
                    <a:srgbClr val="F7F7F5"/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ChillYunmoGothicBold"/>
                </a:rPr>
                <a:t>开场</a:t>
              </a:r>
              <a:endParaRPr lang="zh-CN" altLang="en-US" sz="1600" dirty="0">
                <a:solidFill>
                  <a:srgbClr val="F7F7F5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endParaRPr>
            </a:p>
          </p:txBody>
        </p:sp>
        <p:sp>
          <p:nvSpPr>
            <p:cNvPr id="48" name="AutoShape 4">
              <a:extLst>
                <a:ext uri="{FF2B5EF4-FFF2-40B4-BE49-F238E27FC236}">
                  <a16:creationId id="{37EF19A5-8C91-5873-66BF-C44AAFAF0A04}"/>
                </a:ext>
              </a:extLst>
            </p:cNvPr>
            <p:cNvSpPr/>
            <p:nvPr/>
          </p:nvSpPr>
          <p:spPr>
            <a:xfrm>
              <a:off x="10948737" y="2086306"/>
              <a:ext cx="785842" cy="283219"/>
            </a:xfrm>
            <a:prstGeom prst="roundRect">
              <a:avLst>
                <a:gd name="adj" fmla="val 0"/>
              </a:avLst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altLang="zh-CN" sz="1600" dirty="0">
                  <a:solidFill>
                    <a:srgbClr val="FF2B20"/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SimHei"/>
                </a:rPr>
                <a:t>000</a:t>
              </a:r>
              <a:endParaRPr lang="zh-CN" altLang="en-US" sz="1600" dirty="0">
                <a:solidFill>
                  <a:srgbClr val="FF2B20"/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endParaRPr>
            </a:p>
          </p:txBody>
        </p:sp>
        <p:cxnSp>
          <p:nvCxnSpPr>
            <p:cNvPr id="49" name="直线连接符 48">
              <a:extLst>
                <a:ext uri="{FF2B5EF4-FFF2-40B4-BE49-F238E27FC236}">
                  <a16:creationId id="{38879052-DDAB-A714-D9B3-DCF86D90C265}"/>
                </a:ext>
              </a:extLst>
            </p:cNvPr>
            <p:cNvCxnSpPr/>
            <p:nvPr/>
          </p:nvCxnSpPr>
          <p:spPr>
            <a:xfrm>
              <a:off x="6296904" y="2671763"/>
              <a:ext cx="5437675" cy="0"/>
            </a:xfrm>
            <a:prstGeom prst="line">
              <a:avLst/>
            </a:prstGeom>
            <a:ln>
              <a:solidFill>
                <a:srgbClr val="F7F7F5">
                  <a:alpha val="10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AutoShape 2">
            <a:extLst>
              <a:ext uri="{FF2B5EF4-FFF2-40B4-BE49-F238E27FC236}">
                <a16:creationId id="{82230441-5CCF-F8BB-0443-25FB52A22AE4}"/>
              </a:ext>
            </a:extLst>
          </p:cNvPr>
          <p:cNvSpPr/>
          <p:nvPr/>
        </p:nvSpPr>
        <p:spPr>
          <a:xfrm>
            <a:off x="524800" y="3474180"/>
            <a:ext cx="5115514" cy="615553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spAutoFit/>
          </a:bodyPr>
          <a:lstStyle/>
          <a:p>
            <a:pPr>
              <a:defRPr/>
            </a:pPr>
            <a:r>
              <a:rPr lang="en-US" altLang="zh-CN" sz="4000" dirty="0">
                <a:solidFill>
                  <a:srgbClr val="FF2B20"/>
                </a:solidFill>
                <a:latin typeface="MiSans VF ExtraLight" pitchFamily="2" charset="-122"/>
                <a:ea typeface="MiSans VF ExtraLight" pitchFamily="2" charset="-122"/>
                <a:cs typeface="MiSans VF ExtraLight" pitchFamily="2" charset="-122"/>
                <a:sym typeface="ChillYunmoGothicBold"/>
              </a:rPr>
              <a:t>CONTENTS</a:t>
            </a:r>
            <a:endParaRPr lang="en-US" altLang="zh-CN" sz="4000" b="1" dirty="0">
              <a:solidFill>
                <a:srgbClr val="FF2B20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ChillYunmoGothicBold"/>
            </a:endParaRPr>
          </a:p>
        </p:txBody>
      </p:sp>
    </p:spTree>
    <p:extLst>
      <p:ext uri="{BB962C8B-B14F-4D97-AF65-F5344CB8AC3E}">
        <p14:creationId val="4071342708"/>
      </p:ext>
    </p:extLst>
  </p:cSld>
  <p:clrMapOvr>
    <a:masterClrMapping/>
  </p:clrMapOvr>
</p:sld>
</file>

<file path=ppt/slides/slide3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spTree>
      <p:nvGrpSpPr>
        <p:cNvPr id="1" name="">
          <a:extLst>
            <a:ext uri="{FF2B5EF4-FFF2-40B4-BE49-F238E27FC236}">
              <a16:creationId id="{E5547B95-7B36-ED03-3E7C-E662844AB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id="{E7061516-4200-3DD3-F912-2C87716BA961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7B8E8F0A-9027-00C1-3EAE-F4B5BC38195A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zh-CN" alt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A68BE1EC-B52B-5019-77BA-5FDE538F7B19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  <p:sp>
          <p:nvSpPr>
            <p:cNvPr id="7" name="AutoShape 2">
              <a:extLst>
                <a:ext uri="{FF2B5EF4-FFF2-40B4-BE49-F238E27FC236}">
                  <a16:creationId id="{67B4FA2A-17B9-5457-9006-BBB44F7AC6DD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PREMISE</a:t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</p:grpSp>
      <p:sp>
        <p:nvSpPr>
          <p:cNvPr id="9" name="AutoShape 2">
            <a:extLst>
              <a:ext uri="{FF2B5EF4-FFF2-40B4-BE49-F238E27FC236}">
                <a16:creationId id="{C1237E90-722F-F0D5-4F99-EE3919EC632E}"/>
              </a:ext>
            </a:extLst>
          </p:cNvPr>
          <p:cNvSpPr/>
          <p:nvPr/>
        </p:nvSpPr>
        <p:spPr>
          <a:xfrm>
            <a:off x="524797" y="6295670"/>
            <a:ext cx="3077046" cy="141577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en-US" altLang="zh-CN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rPr>
              <a:t/>
            </a:r>
            <a:endParaRPr lang="en-US" sz="800" dirty="0">
              <a:solidFill>
                <a:srgbClr val="F7F7F5">
                  <a:alpha val="5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JetBrains Mono"/>
            </a:endParaRPr>
          </a:p>
        </p:txBody>
      </p:sp>
      <p:sp>
        <p:nvSpPr>
          <p:cNvPr id="10" name="AutoShape 5">
            <a:extLst>
              <a:ext uri="{FF2B5EF4-FFF2-40B4-BE49-F238E27FC236}">
                <a16:creationId id="{C4075C9B-E2A2-A414-0E97-E496D4FD7653}"/>
              </a:ext>
            </a:extLst>
          </p:cNvPr>
          <p:cNvSpPr/>
          <p:nvPr/>
        </p:nvSpPr>
        <p:spPr>
          <a:xfrm>
            <a:off x="524798" y="1206344"/>
            <a:ext cx="8257236" cy="1231106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defRPr/>
            </a:pPr>
            <a:r>
              <a:rPr lang="zh-CN" altLang="en-US" sz="40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现有 Agent 框架</a:t>
            </a:r>
            <a:endParaRPr lang="en-US" altLang="zh-CN" sz="4000" b="1" dirty="0">
              <a:solidFill>
                <a:srgbClr val="F7F7F5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  <a:p>
            <a:pPr>
              <a:defRPr/>
            </a:pPr>
            <a:r>
              <a:rPr lang="zh-CN" altLang="en-US" sz="4000" b="1" dirty="0">
                <a:solidFill>
                  <a:srgbClr val="FF2B20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默认的前提是什么</a:t>
            </a:r>
            <a:r>
              <a:rPr lang="zh-CN" altLang="en-US" sz="40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/>
            </a:r>
            <a:endParaRPr lang="en-US" altLang="zh-CN" sz="4000" b="1" dirty="0">
              <a:solidFill>
                <a:srgbClr val="F7F7F5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id="{AB99CB03-0194-3037-6041-0B4474A616CB}"/>
              </a:ext>
            </a:extLst>
          </p:cNvPr>
          <p:cNvSpPr txBox="1"/>
          <p:nvPr/>
        </p:nvSpPr>
        <p:spPr>
          <a:xfrm>
            <a:off x="524798" y="4569886"/>
            <a:ext cx="2354734" cy="355858"/>
          </a:xfrm>
          <a:prstGeom prst="rect">
            <a:avLst/>
          </a:prstGeom>
          <a:noFill/>
        </p:spPr>
        <p:txBody>
          <a:bodyPr wrap="square" tIns="72000" bIns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不会死</a:t>
            </a:r>
            <a:endParaRPr lang="zh-CN" altLang="en-US" sz="1200" dirty="0">
              <a:solidFill>
                <a:srgbClr val="F7F7F5">
                  <a:alpha val="8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SimHei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id="{A3E28ACD-5ED4-4B4B-C61B-BC8C2B3A18A9}"/>
              </a:ext>
            </a:extLst>
          </p:cNvPr>
          <p:cNvSpPr txBox="1"/>
          <p:nvPr/>
        </p:nvSpPr>
        <p:spPr>
          <a:xfrm>
            <a:off x="524798" y="3699295"/>
            <a:ext cx="2354734" cy="870014"/>
          </a:xfrm>
          <a:prstGeom prst="rect">
            <a:avLst/>
          </a:prstGeom>
          <a:noFill/>
        </p:spPr>
        <p:txBody>
          <a:bodyPr wrap="square" tIns="72000" bIns="180000">
            <a:spAutoFit/>
          </a:bodyPr>
          <a:lstStyle/>
          <a:p>
            <a:pPr>
              <a:defRPr/>
            </a:pPr>
            <a:r>
              <a:rPr lang="en-US" altLang="zh-CN" sz="4000" dirty="0">
                <a:solidFill>
                  <a:srgbClr val="FF2B20"/>
                </a:solidFill>
                <a:latin typeface="MiSans VF Thin" pitchFamily="2" charset="-122"/>
                <a:ea typeface="MiSans VF Thin" pitchFamily="2" charset="-122"/>
                <a:cs typeface="MiSans VF Thin" pitchFamily="2" charset="-122"/>
                <a:sym typeface="SimHei"/>
              </a:rPr>
              <a:t>01</a:t>
            </a:r>
            <a:endParaRPr lang="zh-CN" altLang="en-US" sz="4000" dirty="0">
              <a:solidFill>
                <a:srgbClr val="FF2B20"/>
              </a:solidFill>
              <a:latin typeface="MiSans VF Thin" pitchFamily="2" charset="-122"/>
              <a:ea typeface="MiSans VF Thin" pitchFamily="2" charset="-122"/>
              <a:cs typeface="MiSans VF Thin" pitchFamily="2" charset="-122"/>
              <a:sym typeface="SimHei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id="{C113AE0C-D1B4-6529-C1E7-26B89F8A09ED}"/>
              </a:ext>
            </a:extLst>
          </p:cNvPr>
          <p:cNvSpPr txBox="1"/>
          <p:nvPr/>
        </p:nvSpPr>
        <p:spPr>
          <a:xfrm>
            <a:off x="3480269" y="3699295"/>
            <a:ext cx="2354734" cy="870014"/>
          </a:xfrm>
          <a:prstGeom prst="rect">
            <a:avLst/>
          </a:prstGeom>
          <a:noFill/>
        </p:spPr>
        <p:txBody>
          <a:bodyPr wrap="square" tIns="72000" bIns="180000">
            <a:spAutoFit/>
          </a:bodyPr>
          <a:lstStyle/>
          <a:p>
            <a:pPr>
              <a:defRPr/>
            </a:pPr>
            <a:r>
              <a:rPr lang="en-US" altLang="zh-CN" sz="4000" dirty="0">
                <a:solidFill>
                  <a:srgbClr val="FF2B20"/>
                </a:solidFill>
                <a:latin typeface="MiSans VF Thin" pitchFamily="2" charset="-122"/>
                <a:ea typeface="MiSans VF Thin" pitchFamily="2" charset="-122"/>
                <a:cs typeface="MiSans VF Thin" pitchFamily="2" charset="-122"/>
                <a:sym typeface="SimHei"/>
              </a:rPr>
              <a:t>02</a:t>
            </a:r>
            <a:endParaRPr lang="zh-CN" altLang="en-US" sz="4000" dirty="0">
              <a:solidFill>
                <a:srgbClr val="FF2B20"/>
              </a:solidFill>
              <a:latin typeface="MiSans VF Thin" pitchFamily="2" charset="-122"/>
              <a:ea typeface="MiSans VF Thin" pitchFamily="2" charset="-122"/>
              <a:cs typeface="MiSans VF Thin" pitchFamily="2" charset="-122"/>
              <a:sym typeface="SimHei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id="{AF2217CE-B75D-A5A4-2443-7A22D6129757}"/>
              </a:ext>
            </a:extLst>
          </p:cNvPr>
          <p:cNvSpPr txBox="1"/>
          <p:nvPr/>
        </p:nvSpPr>
        <p:spPr>
          <a:xfrm>
            <a:off x="6435740" y="3699295"/>
            <a:ext cx="2354734" cy="870014"/>
          </a:xfrm>
          <a:prstGeom prst="rect">
            <a:avLst/>
          </a:prstGeom>
          <a:noFill/>
        </p:spPr>
        <p:txBody>
          <a:bodyPr wrap="square" tIns="72000" bIns="180000">
            <a:spAutoFit/>
          </a:bodyPr>
          <a:lstStyle/>
          <a:p>
            <a:pPr>
              <a:defRPr/>
            </a:pPr>
            <a:r>
              <a:rPr lang="en-US" altLang="zh-CN" sz="4000" dirty="0">
                <a:solidFill>
                  <a:srgbClr val="FF2B20"/>
                </a:solidFill>
                <a:latin typeface="MiSans VF Thin" pitchFamily="2" charset="-122"/>
                <a:ea typeface="MiSans VF Thin" pitchFamily="2" charset="-122"/>
                <a:cs typeface="MiSans VF Thin" pitchFamily="2" charset="-122"/>
                <a:sym typeface="SimHei"/>
              </a:rPr>
              <a:t>03</a:t>
            </a:r>
            <a:endParaRPr lang="zh-CN" altLang="en-US" sz="4000" dirty="0">
              <a:solidFill>
                <a:srgbClr val="FF2B20"/>
              </a:solidFill>
              <a:latin typeface="MiSans VF Thin" pitchFamily="2" charset="-122"/>
              <a:ea typeface="MiSans VF Thin" pitchFamily="2" charset="-122"/>
              <a:cs typeface="MiSans VF Thin" pitchFamily="2" charset="-122"/>
              <a:sym typeface="SimHei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id="{3CCC81F8-5B9A-E2EF-91C2-DC6F04228C9C}"/>
              </a:ext>
            </a:extLst>
          </p:cNvPr>
          <p:cNvSpPr txBox="1"/>
          <p:nvPr/>
        </p:nvSpPr>
        <p:spPr>
          <a:xfrm>
            <a:off x="9374883" y="3699295"/>
            <a:ext cx="2354734" cy="870014"/>
          </a:xfrm>
          <a:prstGeom prst="rect">
            <a:avLst/>
          </a:prstGeom>
          <a:noFill/>
        </p:spPr>
        <p:txBody>
          <a:bodyPr wrap="square" tIns="72000" bIns="180000">
            <a:spAutoFit/>
          </a:bodyPr>
          <a:lstStyle/>
          <a:p>
            <a:pPr>
              <a:defRPr/>
            </a:pPr>
            <a:r>
              <a:rPr lang="en-US" altLang="zh-CN" sz="4000" dirty="0">
                <a:solidFill>
                  <a:srgbClr val="FF2B20"/>
                </a:solidFill>
                <a:latin typeface="MiSans VF Thin" pitchFamily="2" charset="-122"/>
                <a:ea typeface="MiSans VF Thin" pitchFamily="2" charset="-122"/>
                <a:cs typeface="MiSans VF Thin" pitchFamily="2" charset="-122"/>
                <a:sym typeface="SimHei"/>
              </a:rPr>
              <a:t>04</a:t>
            </a:r>
            <a:endParaRPr lang="zh-CN" altLang="en-US" sz="4000" dirty="0">
              <a:solidFill>
                <a:srgbClr val="FF2B20"/>
              </a:solidFill>
              <a:latin typeface="MiSans VF Thin" pitchFamily="2" charset="-122"/>
              <a:ea typeface="MiSans VF Thin" pitchFamily="2" charset="-122"/>
              <a:cs typeface="MiSans VF Thin" pitchFamily="2" charset="-122"/>
              <a:sym typeface="SimHei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id="{8C9FE8CC-146F-9BA4-5773-64402FFB93A4}"/>
              </a:ext>
            </a:extLst>
          </p:cNvPr>
          <p:cNvSpPr txBox="1"/>
          <p:nvPr/>
        </p:nvSpPr>
        <p:spPr>
          <a:xfrm>
            <a:off x="9817507" y="1206343"/>
            <a:ext cx="19157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/>
            </a:pPr>
            <a:r>
              <a:rPr lang="en-US" altLang="zh-CN" sz="1400" b="1" i="1" dirty="0">
                <a:solidFill>
                  <a:srgbClr val="FF2B20"/>
                </a:solidFill>
                <a:latin typeface="Didot" panose="02000503000000020003" pitchFamily="2" charset="-79"/>
                <a:ea typeface="MiSans VF Bold" pitchFamily="2" charset="-122"/>
                <a:cs typeface="Didot" panose="02000503000000020003" pitchFamily="2" charset="-79"/>
                <a:sym typeface="SimHei"/>
              </a:rPr>
              <a:t>PREMISE</a:t>
            </a:r>
            <a:endParaRPr lang="en-US" altLang="zh-CN" sz="1400" b="1" i="1" u="none" strike="noStrike" dirty="0">
              <a:solidFill>
                <a:srgbClr val="FF2B20"/>
              </a:solidFill>
              <a:latin typeface="Didot" panose="02000503000000020003" pitchFamily="2" charset="-79"/>
              <a:ea typeface="MiSans VF Bold" pitchFamily="2" charset="-122"/>
              <a:cs typeface="Didot" panose="02000503000000020003" pitchFamily="2" charset="-79"/>
              <a:sym typeface="SimHei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id="{9878D3EE-752D-1277-B412-BDB6EC6151EF}"/>
              </a:ext>
            </a:extLst>
          </p:cNvPr>
          <p:cNvSpPr txBox="1"/>
          <p:nvPr/>
        </p:nvSpPr>
        <p:spPr>
          <a:xfrm>
            <a:off x="524798" y="4954606"/>
            <a:ext cx="2354734" cy="808459"/>
          </a:xfrm>
          <a:prstGeom prst="rect">
            <a:avLst/>
          </a:prstGeom>
          <a:noFill/>
        </p:spPr>
        <p:txBody>
          <a:bodyPr wrap="square" tIns="72000" bIns="180000">
            <a:normAutofit/>
          </a:bodyPr>
          <a:lstStyle/>
          <a:p>
            <a:pPr>
              <a:spcBef>
                <a:spcPts val="600"/>
              </a:spcBef>
              <a:defRPr/>
            </a:pPr>
            <a:r>
              <a:rPr lang="zh-CN" altLang="en-US" sz="996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上下文超了就截断或压缩，不影响它存在</a:t>
            </a:r>
            <a:r>
              <a:rPr lang="en-US" altLang="zh-CN" sz="996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  <a:r>
              <a:rPr lang="zh-CN" altLang="en-US" sz="996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  <a:r>
              <a:rPr lang="en-US" altLang="zh-CN" sz="996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  <a:r>
              <a:rPr lang="zh-CN" altLang="en-US" sz="996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</p:txBody>
      </p:sp>
      <p:sp>
        <p:nvSpPr>
          <p:cNvPr id="8" name="文本框 7">
            <a:extLst>
              <a:ext uri="{FF2B5EF4-FFF2-40B4-BE49-F238E27FC236}">
                <a16:creationId id="{E51BFC7C-2E47-6781-0C21-9464062F7CE4}"/>
              </a:ext>
            </a:extLst>
          </p:cNvPr>
          <p:cNvSpPr txBox="1"/>
          <p:nvPr/>
        </p:nvSpPr>
        <p:spPr>
          <a:xfrm>
            <a:off x="3463941" y="4569886"/>
            <a:ext cx="2354734" cy="355858"/>
          </a:xfrm>
          <a:prstGeom prst="rect">
            <a:avLst/>
          </a:prstGeom>
          <a:noFill/>
        </p:spPr>
        <p:txBody>
          <a:bodyPr wrap="square" tIns="72000" bIns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不做取舍</a:t>
            </a:r>
          </a:p>
        </p:txBody>
      </p:sp>
      <p:sp>
        <p:nvSpPr>
          <p:cNvPr id="11" name="文本框 10">
            <a:extLst>
              <a:ext uri="{FF2B5EF4-FFF2-40B4-BE49-F238E27FC236}">
                <a16:creationId id="{66DFB1D4-0047-D03F-681B-581D6D0965B5}"/>
              </a:ext>
            </a:extLst>
          </p:cNvPr>
          <p:cNvSpPr txBox="1"/>
          <p:nvPr/>
        </p:nvSpPr>
        <p:spPr>
          <a:xfrm>
            <a:off x="3463941" y="4954606"/>
            <a:ext cx="2354734" cy="808459"/>
          </a:xfrm>
          <a:prstGeom prst="rect">
            <a:avLst/>
          </a:prstGeom>
          <a:noFill/>
        </p:spPr>
        <p:txBody>
          <a:bodyPr wrap="square" tIns="72000" bIns="180000">
            <a:spAutoFit/>
          </a:bodyPr>
          <a:lstStyle/>
          <a:p>
            <a:pPr>
              <a:spcBef>
                <a:spcPts val="6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预算不足就换一个 key 继续，资源是软提示</a:t>
            </a:r>
          </a:p>
        </p:txBody>
      </p:sp>
      <p:sp>
        <p:nvSpPr>
          <p:cNvPr id="12" name="文本框 11">
            <a:extLst>
              <a:ext uri="{FF2B5EF4-FFF2-40B4-BE49-F238E27FC236}">
                <a16:creationId id="{4CED8753-24D8-DBB9-3FE7-29B3718D8F6F}"/>
              </a:ext>
            </a:extLst>
          </p:cNvPr>
          <p:cNvSpPr txBox="1"/>
          <p:nvPr/>
        </p:nvSpPr>
        <p:spPr>
          <a:xfrm>
            <a:off x="6456522" y="4569886"/>
            <a:ext cx="2354734" cy="355858"/>
          </a:xfrm>
          <a:prstGeom prst="rect">
            <a:avLst/>
          </a:prstGeom>
          <a:noFill/>
        </p:spPr>
        <p:txBody>
          <a:bodyPr wrap="square" tIns="72000" bIns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不留疤</a:t>
            </a:r>
            <a:endParaRPr lang="en-US" altLang="zh-CN" sz="1600" b="1" dirty="0">
              <a:solidFill>
                <a:srgbClr val="F7F7F5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id="{FED2BB79-D4D1-BD6B-FF45-FBA85CA7A2C5}"/>
              </a:ext>
            </a:extLst>
          </p:cNvPr>
          <p:cNvSpPr txBox="1"/>
          <p:nvPr/>
        </p:nvSpPr>
        <p:spPr>
          <a:xfrm>
            <a:off x="6456522" y="4954606"/>
            <a:ext cx="2354734" cy="808459"/>
          </a:xfrm>
          <a:prstGeom prst="rect">
            <a:avLst/>
          </a:prstGeom>
          <a:noFill/>
        </p:spPr>
        <p:txBody>
          <a:bodyPr wrap="square" tIns="72000" bIns="180000">
            <a:normAutofit/>
          </a:bodyPr>
          <a:lstStyle/>
          <a:p>
            <a:pPr>
              <a:spcBef>
                <a:spcPts val="600"/>
              </a:spcBef>
              <a:defRPr/>
            </a:pPr>
            <a:r>
              <a:rPr lang="zh-CN" altLang="en-US" sz="996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状态丢了就重新加载，做过的事不留痕迹</a:t>
            </a:r>
            <a:r>
              <a:rPr lang="en-US" altLang="zh-CN" sz="996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  <a:r>
              <a:rPr lang="zh-CN" altLang="en-US" sz="996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</p:txBody>
      </p:sp>
      <p:sp>
        <p:nvSpPr>
          <p:cNvPr id="15" name="文本框 14">
            <a:extLst>
              <a:ext uri="{FF2B5EF4-FFF2-40B4-BE49-F238E27FC236}">
                <a16:creationId id="{B7DDC906-AF95-41BF-7672-AB2A2278BDFD}"/>
              </a:ext>
            </a:extLst>
          </p:cNvPr>
          <p:cNvSpPr txBox="1"/>
          <p:nvPr/>
        </p:nvSpPr>
        <p:spPr>
          <a:xfrm>
            <a:off x="9395665" y="4569886"/>
            <a:ext cx="2354734" cy="355858"/>
          </a:xfrm>
          <a:prstGeom prst="rect">
            <a:avLst/>
          </a:prstGeom>
          <a:noFill/>
        </p:spPr>
        <p:txBody>
          <a:bodyPr wrap="square" tIns="72000" bIns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所以</a:t>
            </a:r>
            <a:endParaRPr lang="en-US" altLang="zh-CN" sz="1600" b="1" dirty="0">
              <a:solidFill>
                <a:srgbClr val="F7F7F5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id="{98E498B4-0D69-953B-8FE7-2FCD5935AE71}"/>
              </a:ext>
            </a:extLst>
          </p:cNvPr>
          <p:cNvSpPr txBox="1"/>
          <p:nvPr/>
        </p:nvSpPr>
        <p:spPr>
          <a:xfrm>
            <a:off x="9395665" y="4954606"/>
            <a:ext cx="2354734" cy="993125"/>
          </a:xfrm>
          <a:prstGeom prst="rect">
            <a:avLst/>
          </a:prstGeom>
          <a:noFill/>
        </p:spPr>
        <p:txBody>
          <a:bodyPr wrap="square" tIns="72000" bIns="180000">
            <a:spAutoFit/>
          </a:bodyPr>
          <a:lstStyle/>
          <a:p>
            <a:pPr>
              <a:spcBef>
                <a:spcPts val="6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不会死、不取舍、不留疤的系统没有偏好，也长不出结构</a:t>
            </a:r>
          </a:p>
        </p:txBody>
      </p:sp>
    </p:spTree>
    <p:extLst>
      <p:ext uri="{BB962C8B-B14F-4D97-AF65-F5344CB8AC3E}">
        <p14:creationId val="2588205650"/>
      </p:ext>
    </p:extLst>
  </p:cSld>
  <p:clrMapOvr>
    <a:masterClrMapping/>
  </p:clrMapOvr>
</p:sld>
</file>

<file path=ppt/slides/slide4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spTree>
      <p:nvGrpSpPr>
        <p:cNvPr id="1" name="">
          <a:extLst>
            <a:ext uri="{FF2B5EF4-FFF2-40B4-BE49-F238E27FC236}">
              <a16:creationId id="{41A67A09-1B65-03F8-DFA5-D95292785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id="{0E28A0A2-E3AD-EC7B-265C-A3BE49E0A246}"/>
              </a:ext>
            </a:extLst>
          </p:cNvPr>
          <p:cNvGrpSpPr/>
          <p:nvPr/>
        </p:nvGrpSpPr>
        <p:grpSpPr>
          <a:xfrm>
            <a:off x="-239398" y="-1280369"/>
            <a:ext cx="12667766" cy="9418738"/>
            <a:chOff x="-239398" y="-1280369"/>
            <a:chExt cx="12667766" cy="9418738"/>
          </a:xfrm>
        </p:grpSpPr>
        <p:cxnSp>
          <p:nvCxnSpPr>
            <p:cNvPr id="12" name="直线连接符 11">
              <a:extLst>
                <a:ext uri="{FF2B5EF4-FFF2-40B4-BE49-F238E27FC236}">
                  <a16:creationId id="{839AFF12-0A58-74B2-1A7A-128EC904BC25}"/>
                </a:ext>
              </a:extLst>
            </p:cNvPr>
            <p:cNvCxnSpPr>
              <a:cxnSpLocks/>
            </p:cNvCxnSpPr>
            <p:nvPr/>
          </p:nvCxnSpPr>
          <p:spPr>
            <a:xfrm>
              <a:off x="11945342" y="-1280369"/>
              <a:ext cx="19544" cy="94187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线连接符 12">
              <a:extLst>
                <a:ext uri="{FF2B5EF4-FFF2-40B4-BE49-F238E27FC236}">
                  <a16:creationId id="{C9E36137-8EE8-19CB-D180-267B1D653EE0}"/>
                </a:ext>
              </a:extLst>
            </p:cNvPr>
            <p:cNvCxnSpPr>
              <a:cxnSpLocks/>
            </p:cNvCxnSpPr>
            <p:nvPr/>
          </p:nvCxnSpPr>
          <p:spPr>
            <a:xfrm>
              <a:off x="243628" y="-1280369"/>
              <a:ext cx="19544" cy="94187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线连接符 13">
              <a:extLst>
                <a:ext uri="{FF2B5EF4-FFF2-40B4-BE49-F238E27FC236}">
                  <a16:creationId id="{DBBAA384-E987-D13A-057E-E4FC8C9993A8}"/>
                </a:ext>
              </a:extLst>
            </p:cNvPr>
            <p:cNvCxnSpPr>
              <a:cxnSpLocks/>
            </p:cNvCxnSpPr>
            <p:nvPr/>
          </p:nvCxnSpPr>
          <p:spPr>
            <a:xfrm>
              <a:off x="524797" y="385358"/>
              <a:ext cx="0" cy="60829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线连接符 14">
              <a:extLst>
                <a:ext uri="{FF2B5EF4-FFF2-40B4-BE49-F238E27FC236}">
                  <a16:creationId id="{A2E89A7F-34B7-7C9A-0949-C5188AF012D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13761" y="6442064"/>
              <a:ext cx="12642129" cy="26232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线连接符 21">
              <a:extLst>
                <a:ext uri="{FF2B5EF4-FFF2-40B4-BE49-F238E27FC236}">
                  <a16:creationId id="{9310D08C-D845-9086-FC35-1D0925C659B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39398" y="359072"/>
              <a:ext cx="12667766" cy="26286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线连接符 23">
              <a:extLst>
                <a:ext uri="{FF2B5EF4-FFF2-40B4-BE49-F238E27FC236}">
                  <a16:creationId id="{31504B1D-2966-D185-839D-0606FCB315AE}"/>
                </a:ext>
              </a:extLst>
            </p:cNvPr>
            <p:cNvCxnSpPr>
              <a:cxnSpLocks/>
            </p:cNvCxnSpPr>
            <p:nvPr/>
          </p:nvCxnSpPr>
          <p:spPr>
            <a:xfrm>
              <a:off x="6074941" y="-1280369"/>
              <a:ext cx="19544" cy="94187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线连接符 24">
              <a:extLst>
                <a:ext uri="{FF2B5EF4-FFF2-40B4-BE49-F238E27FC236}">
                  <a16:creationId id="{71797857-1480-3F87-1268-E5D702FAABCF}"/>
                </a:ext>
              </a:extLst>
            </p:cNvPr>
            <p:cNvCxnSpPr>
              <a:cxnSpLocks/>
            </p:cNvCxnSpPr>
            <p:nvPr/>
          </p:nvCxnSpPr>
          <p:spPr>
            <a:xfrm>
              <a:off x="11733284" y="359233"/>
              <a:ext cx="0" cy="60829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线连接符 25">
              <a:extLst>
                <a:ext uri="{FF2B5EF4-FFF2-40B4-BE49-F238E27FC236}">
                  <a16:creationId id="{0A451943-7CC8-0542-FD5D-36DB3E7C51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39398" y="3426122"/>
              <a:ext cx="12667766" cy="26286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" name="组合 1">
            <a:extLst>
              <a:ext uri="{FF2B5EF4-FFF2-40B4-BE49-F238E27FC236}">
                <a16:creationId id="{091A796B-1CBA-04CD-858A-023EAF8BD6FD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88B10F02-B936-AC5E-580A-E78F352A6F64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zh-CN" alt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E6B22B51-1FBE-97A9-73DE-8389EEF5053B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  <p:sp>
          <p:nvSpPr>
            <p:cNvPr id="5" name="AutoShape 2">
              <a:extLst>
                <a:ext uri="{FF2B5EF4-FFF2-40B4-BE49-F238E27FC236}">
                  <a16:creationId id="{75109739-41F1-D4D0-12E2-3A5EB0BD2E8E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</p:grpSp>
      <p:sp>
        <p:nvSpPr>
          <p:cNvPr id="16" name="AutoShape 2">
            <a:extLst>
              <a:ext uri="{FF2B5EF4-FFF2-40B4-BE49-F238E27FC236}">
                <a16:creationId id="{4D217ACB-36FC-F32C-4D3C-6CCCCA60DA24}"/>
              </a:ext>
            </a:extLst>
          </p:cNvPr>
          <p:cNvSpPr/>
          <p:nvPr/>
        </p:nvSpPr>
        <p:spPr>
          <a:xfrm>
            <a:off x="524797" y="6295670"/>
            <a:ext cx="3077046" cy="141577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en-US" altLang="zh-CN" sz="800" dirty="0">
                <a:solidFill>
                  <a:srgbClr val="0B0B0C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rPr>
              <a:t/>
            </a:r>
            <a:endParaRPr lang="en-US" sz="800" dirty="0">
              <a:solidFill>
                <a:srgbClr val="0B0B0C">
                  <a:alpha val="5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JetBrains Mono"/>
            </a:endParaRPr>
          </a:p>
        </p:txBody>
      </p:sp>
      <p:sp>
        <p:nvSpPr>
          <p:cNvPr id="6" name="AutoShape 5">
            <a:extLst>
              <a:ext uri="{FF2B5EF4-FFF2-40B4-BE49-F238E27FC236}">
                <a16:creationId id="{148C2953-C16A-1029-ECC3-FC77F7D40643}"/>
              </a:ext>
            </a:extLst>
          </p:cNvPr>
          <p:cNvSpPr/>
          <p:nvPr/>
        </p:nvSpPr>
        <p:spPr>
          <a:xfrm>
            <a:off x="6162083" y="2858627"/>
            <a:ext cx="5115515" cy="1231106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defRPr/>
            </a:pPr>
            <a:r>
              <a:rPr lang="zh-CN" altLang="en-US" sz="40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换掉前提</a:t>
            </a:r>
            <a:r>
              <a:rPr lang="en-US" altLang="zh-CN" sz="40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/>
            </a:r>
            <a:r>
              <a:rPr lang="zh-CN" altLang="en-US" sz="40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/>
            </a:r>
            <a:endParaRPr lang="en-US" altLang="zh-CN" sz="4000" b="1" dirty="0">
              <a:solidFill>
                <a:srgbClr val="F7F7F5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  <a:p>
            <a:pPr>
              <a:defRPr/>
            </a:pPr>
            <a:r>
              <a:rPr lang="zh-CN" altLang="en-US" sz="40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五条硬约束</a:t>
            </a:r>
            <a:endParaRPr lang="en-US" altLang="zh-CN" sz="4000" b="1" dirty="0">
              <a:solidFill>
                <a:srgbClr val="F7F7F5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sp>
        <p:nvSpPr>
          <p:cNvPr id="8" name="AutoShape 2">
            <a:extLst>
              <a:ext uri="{FF2B5EF4-FFF2-40B4-BE49-F238E27FC236}">
                <a16:creationId id="{89B0AE2E-C6E5-AA5D-6954-603DADD7DCB1}"/>
              </a:ext>
            </a:extLst>
          </p:cNvPr>
          <p:cNvSpPr/>
          <p:nvPr/>
        </p:nvSpPr>
        <p:spPr>
          <a:xfrm>
            <a:off x="524800" y="2858627"/>
            <a:ext cx="5115514" cy="615553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spAutoFit/>
          </a:bodyPr>
          <a:lstStyle/>
          <a:p>
            <a:pPr>
              <a:defRPr/>
            </a:pPr>
            <a:r>
              <a:rPr lang="en-US" altLang="zh-CN" sz="4000" b="1" dirty="0">
                <a:solidFill>
                  <a:srgbClr val="FF2B20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ChillYunmoGothicBold"/>
              </a:rPr>
              <a:t>001</a:t>
            </a:r>
          </a:p>
        </p:txBody>
      </p:sp>
      <p:sp>
        <p:nvSpPr>
          <p:cNvPr id="9" name="AutoShape 2">
            <a:extLst>
              <a:ext uri="{FF2B5EF4-FFF2-40B4-BE49-F238E27FC236}">
                <a16:creationId id="{751D63BF-25DA-A2C8-2046-20BDCABDFFCA}"/>
              </a:ext>
            </a:extLst>
          </p:cNvPr>
          <p:cNvSpPr/>
          <p:nvPr/>
        </p:nvSpPr>
        <p:spPr>
          <a:xfrm>
            <a:off x="524800" y="3474180"/>
            <a:ext cx="5115514" cy="615553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spAutoFit/>
          </a:bodyPr>
          <a:lstStyle/>
          <a:p>
            <a:pPr>
              <a:defRPr/>
            </a:pPr>
            <a:r>
              <a:rPr lang="en-US" altLang="zh-CN" sz="4000" dirty="0">
                <a:solidFill>
                  <a:srgbClr val="FF2B20"/>
                </a:solidFill>
                <a:latin typeface="MiSans VF ExtraLight" pitchFamily="2" charset="-122"/>
                <a:ea typeface="MiSans VF ExtraLight" pitchFamily="2" charset="-122"/>
                <a:cs typeface="MiSans VF ExtraLight" pitchFamily="2" charset="-122"/>
                <a:sym typeface="ChillYunmoGothicBold"/>
              </a:rPr>
              <a:t>CHAPTER</a:t>
            </a:r>
            <a:endParaRPr lang="en-US" altLang="zh-CN" sz="4000" b="1" dirty="0">
              <a:solidFill>
                <a:srgbClr val="FF2B20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ChillYunmoGothicBold"/>
            </a:endParaRPr>
          </a:p>
        </p:txBody>
      </p:sp>
    </p:spTree>
    <p:extLst>
      <p:ext uri="{BB962C8B-B14F-4D97-AF65-F5344CB8AC3E}">
        <p14:creationId val="3856848080"/>
      </p:ext>
    </p:extLst>
  </p:cSld>
  <p:clrMapOvr>
    <a:masterClrMapping/>
  </p:clrMapOvr>
</p:sld>
</file>

<file path=ppt/slides/slide5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id="{93FE6BAB-3F6D-3858-0C12-8020D8A71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id="{F5E2F8DF-278D-0985-AED6-7DE2D0B52057}"/>
              </a:ext>
            </a:extLst>
          </p:cNvPr>
          <p:cNvSpPr/>
          <p:nvPr/>
        </p:nvSpPr>
        <p:spPr>
          <a:xfrm>
            <a:off x="7843520" y="1"/>
            <a:ext cx="4348478" cy="2091765"/>
          </a:xfrm>
          <a:prstGeom prst="rect">
            <a:avLst/>
          </a:prstGeom>
          <a:solidFill>
            <a:srgbClr val="FF2B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grpSp>
        <p:nvGrpSpPr>
          <p:cNvPr id="2" name="组合 1">
            <a:extLst>
              <a:ext uri="{FF2B5EF4-FFF2-40B4-BE49-F238E27FC236}">
                <a16:creationId id="{6A8CAECE-A818-BFA1-4BDB-09842B587ABD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349CC99D-B015-CF71-099E-B5A742DF5EF7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zh-CN" alt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A0C02DDB-44C8-4243-1FAD-40D15F144B20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  <p:sp>
          <p:nvSpPr>
            <p:cNvPr id="7" name="AutoShape 2">
              <a:extLst>
                <a:ext uri="{FF2B5EF4-FFF2-40B4-BE49-F238E27FC236}">
                  <a16:creationId id="{2402903B-91AB-6808-7A79-72041E800495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111111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111111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</p:grpSp>
      <p:sp>
        <p:nvSpPr>
          <p:cNvPr id="9" name="AutoShape 2">
            <a:extLst>
              <a:ext uri="{FF2B5EF4-FFF2-40B4-BE49-F238E27FC236}">
                <a16:creationId id="{DE27CCE9-3DF6-228B-E126-786EE07D4B67}"/>
              </a:ext>
            </a:extLst>
          </p:cNvPr>
          <p:cNvSpPr/>
          <p:nvPr/>
        </p:nvSpPr>
        <p:spPr>
          <a:xfrm>
            <a:off x="524797" y="6295670"/>
            <a:ext cx="3077046" cy="141577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en-US" altLang="zh-CN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rPr>
              <a:t/>
            </a:r>
            <a:endParaRPr lang="en-US" sz="800" dirty="0">
              <a:solidFill>
                <a:srgbClr val="F7F7F5">
                  <a:alpha val="5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JetBrains Mono"/>
            </a:endParaRPr>
          </a:p>
        </p:txBody>
      </p:sp>
      <p:sp>
        <p:nvSpPr>
          <p:cNvPr id="6" name="AutoShape 5">
            <a:extLst>
              <a:ext uri="{FF2B5EF4-FFF2-40B4-BE49-F238E27FC236}">
                <a16:creationId id="{033C03B7-3581-B932-404B-C1D30AEE7D9A}"/>
              </a:ext>
            </a:extLst>
          </p:cNvPr>
          <p:cNvSpPr/>
          <p:nvPr/>
        </p:nvSpPr>
        <p:spPr>
          <a:xfrm>
            <a:off x="524799" y="1206344"/>
            <a:ext cx="4495436" cy="1231106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rmAutofit/>
          </a:bodyPr>
          <a:lstStyle/>
          <a:p>
            <a:pPr>
              <a:defRPr/>
            </a:pPr>
            <a:r>
              <a:rPr lang="zh-CN" altLang="en-US" sz="272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当它必须取舍、必须记住</a:t>
            </a:r>
            <a:endParaRPr lang="en-US" altLang="zh-CN" sz="2720" b="1" dirty="0">
              <a:solidFill>
                <a:srgbClr val="F7F7F5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  <a:p>
            <a:pPr>
              <a:defRPr/>
            </a:pPr>
            <a:r>
              <a:rPr lang="zh-CN" altLang="en-US" sz="272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而且真的会死</a:t>
            </a:r>
            <a:r>
              <a:rPr lang="zh-CN" altLang="en-US" sz="2720" b="1" dirty="0">
                <a:solidFill>
                  <a:srgbClr val="FF2B20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/>
            </a:r>
            <a:endParaRPr lang="en-US" altLang="zh-CN" sz="2720" b="1" dirty="0">
              <a:solidFill>
                <a:srgbClr val="FF2B20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id="{FC893A53-9E6D-625B-8BD9-8C604AE52C90}"/>
              </a:ext>
            </a:extLst>
          </p:cNvPr>
          <p:cNvSpPr txBox="1"/>
          <p:nvPr/>
        </p:nvSpPr>
        <p:spPr>
          <a:xfrm>
            <a:off x="524797" y="4237318"/>
            <a:ext cx="3077045" cy="16004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本项目换的不是模块，是前提。</a:t>
            </a:r>
            <a:endParaRPr lang="en-US" altLang="zh-CN" sz="1200" dirty="0">
              <a:solidFill>
                <a:srgbClr val="F7F7F5">
                  <a:alpha val="8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SimHei"/>
            </a:endParaRP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五条硬约束互为存在条件：稀缺、死亡、不可逆、代谢、内生约束。</a:t>
            </a: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在其之下，结构不是被设计的，是被逼出来的。</a:t>
            </a:r>
          </a:p>
        </p:txBody>
      </p:sp>
      <p:sp>
        <p:nvSpPr>
          <p:cNvPr id="26" name="文本框 25">
            <a:extLst>
              <a:ext uri="{FF2B5EF4-FFF2-40B4-BE49-F238E27FC236}">
                <a16:creationId id="{E880D043-9CC6-2424-3BC3-FD305067A781}"/>
              </a:ext>
            </a:extLst>
          </p:cNvPr>
          <p:cNvSpPr txBox="1"/>
          <p:nvPr/>
        </p:nvSpPr>
        <p:spPr>
          <a:xfrm>
            <a:off x="9817507" y="1206343"/>
            <a:ext cx="19157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/>
            </a:pPr>
            <a:r>
              <a:rPr lang="en-US" altLang="zh-CN" sz="1400" b="1" i="1" dirty="0">
                <a:solidFill>
                  <a:srgbClr val="111111"/>
                </a:solidFill>
                <a:latin typeface="Didot" panose="02000503000000020003" pitchFamily="2" charset="-79"/>
                <a:ea typeface="MiSans VF Bold" pitchFamily="2" charset="-122"/>
                <a:cs typeface="Didot" panose="02000503000000020003" pitchFamily="2" charset="-79"/>
                <a:sym typeface="SimHei"/>
              </a:rPr>
              <a:t>PREMISE</a:t>
            </a:r>
            <a:endParaRPr lang="en-US" altLang="zh-CN" sz="1400" b="1" i="1" u="none" strike="noStrike" dirty="0">
              <a:solidFill>
                <a:srgbClr val="111111"/>
              </a:solidFill>
              <a:latin typeface="Didot" panose="02000503000000020003" pitchFamily="2" charset="-79"/>
              <a:ea typeface="MiSans VF Bold" pitchFamily="2" charset="-122"/>
              <a:cs typeface="Didot" panose="02000503000000020003" pitchFamily="2" charset="-79"/>
              <a:sym typeface="SimHei"/>
            </a:endParaRPr>
          </a:p>
        </p:txBody>
      </p:sp>
      <p:pic>
        <p:nvPicPr>
          <p:cNvPr id="5" name="图片 4" descr="This may contain: blurry photograph of an orange and blue train passing by in the night time sky">
            <a:extLst>
              <a:ext uri="{FF2B5EF4-FFF2-40B4-BE49-F238E27FC236}">
                <a16:creationId id="{B47E361B-2E16-1E86-A035-BAD034570D0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847" b="7847"/>
          <a:stretch>
            <a:fillRect/>
          </a:stretch>
        </p:blipFill>
        <p:spPr>
          <a:xfrm rot="5400000">
            <a:off x="7038295" y="1405299"/>
            <a:ext cx="3779449" cy="5664038"/>
          </a:xfrm>
          <a:prstGeom prst="rect">
            <a:avLst/>
          </a:prstGeom>
        </p:spPr>
      </p:pic>
    </p:spTree>
    <p:extLst>
      <p:ext uri="{BB962C8B-B14F-4D97-AF65-F5344CB8AC3E}">
        <p14:creationId val="4104660237"/>
      </p:ext>
    </p:extLst>
  </p:cSld>
  <p:clrMapOvr>
    <a:masterClrMapping/>
  </p:clrMapOvr>
</p:sld>
</file>

<file path=ppt/slides/slide8.xml><?xml version="1.0" encoding="utf-8"?>
<p:sld xmlns:a="http://schemas.openxmlformats.org/drawingml/2006/main" xmlns:a14="http://schemas.microsoft.com/office/drawing/2010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id="{E648A593-A99C-D2FE-D77C-36E5F2C8F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id="{9FAC6FDF-E8F2-2C50-CFD5-A9E92A891DEB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6632C352-CB58-9269-91D5-FF12D47E0F97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zh-CN" alt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3B04F1DF-1ABD-DF2B-33F8-A8CA3C8F1268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  <p:sp>
          <p:nvSpPr>
            <p:cNvPr id="7" name="AutoShape 2">
              <a:extLst>
                <a:ext uri="{FF2B5EF4-FFF2-40B4-BE49-F238E27FC236}">
                  <a16:creationId id="{4D641233-D71F-5A17-2604-1D9587D88B65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</p:grpSp>
      <p:sp>
        <p:nvSpPr>
          <p:cNvPr id="9" name="AutoShape 2">
            <a:extLst>
              <a:ext uri="{FF2B5EF4-FFF2-40B4-BE49-F238E27FC236}">
                <a16:creationId id="{CB1B5DA2-304D-5777-882F-5473F98F5090}"/>
              </a:ext>
            </a:extLst>
          </p:cNvPr>
          <p:cNvSpPr/>
          <p:nvPr/>
        </p:nvSpPr>
        <p:spPr>
          <a:xfrm>
            <a:off x="524797" y="6295670"/>
            <a:ext cx="3077046" cy="141577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en-US" altLang="zh-CN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rPr>
              <a:t/>
            </a:r>
            <a:endParaRPr lang="en-US" sz="800" dirty="0">
              <a:solidFill>
                <a:srgbClr val="F7F7F5">
                  <a:alpha val="5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JetBrains Mono"/>
            </a:endParaRPr>
          </a:p>
        </p:txBody>
      </p:sp>
      <p:sp>
        <p:nvSpPr>
          <p:cNvPr id="6" name="AutoShape 5">
            <a:extLst>
              <a:ext uri="{FF2B5EF4-FFF2-40B4-BE49-F238E27FC236}">
                <a16:creationId id="{E89CED06-68D7-42C2-94E3-78AB3BA2CBF2}"/>
              </a:ext>
            </a:extLst>
          </p:cNvPr>
          <p:cNvSpPr/>
          <p:nvPr/>
        </p:nvSpPr>
        <p:spPr>
          <a:xfrm>
            <a:off x="524798" y="1206344"/>
            <a:ext cx="7331999" cy="615553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defRPr/>
            </a:pPr>
            <a:r>
              <a:rPr lang="zh-CN" altLang="en-US" sz="40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APPLICATION</a:t>
            </a:r>
            <a:endParaRPr lang="en-US" altLang="zh-CN" sz="4000" b="1" dirty="0">
              <a:solidFill>
                <a:srgbClr val="F7F7F5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id="{FC096C41-32D4-6372-4BDA-66DF1C2886E3}"/>
              </a:ext>
            </a:extLst>
          </p:cNvPr>
          <p:cNvSpPr txBox="1"/>
          <p:nvPr/>
        </p:nvSpPr>
        <p:spPr>
          <a:xfrm>
            <a:off x="524796" y="4493086"/>
            <a:ext cx="3319001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600" dirty="0">
                <a:solidFill>
                  <a:srgbClr val="F7F7F5"/>
                </a:solidFill>
                <a:latin typeface="Didot" panose="02000503000000020003" pitchFamily="2" charset="-79"/>
                <a:ea typeface="MiSans VF Bold" pitchFamily="2" charset="-122"/>
                <a:cs typeface="Didot" panose="02000503000000020003" pitchFamily="2" charset="-79"/>
                <a:sym typeface="SimHei"/>
              </a:rPr>
              <a:t>H1 · 关键期是否存在</a:t>
            </a:r>
            <a:endParaRPr lang="zh-CN" altLang="en-US" sz="1200" dirty="0">
              <a:solidFill>
                <a:srgbClr val="F7F7F5">
                  <a:alpha val="8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SimHei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id="{FC5C973B-0ECD-9FA3-5034-2E7AFF868A79}"/>
              </a:ext>
            </a:extLst>
          </p:cNvPr>
          <p:cNvSpPr txBox="1"/>
          <p:nvPr/>
        </p:nvSpPr>
        <p:spPr>
          <a:xfrm>
            <a:off x="9765793" y="1206343"/>
            <a:ext cx="19674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/>
            </a:pPr>
            <a:r>
              <a:rPr lang="en-US" altLang="zh-CN" b="1" i="1" dirty="0">
                <a:solidFill>
                  <a:srgbClr val="FF2B20"/>
                </a:solidFill>
                <a:latin typeface="Didot" panose="02000503000000020003" pitchFamily="2" charset="-79"/>
                <a:ea typeface="MiSans VF Bold" pitchFamily="2" charset="-122"/>
                <a:cs typeface="Didot" panose="02000503000000020003" pitchFamily="2" charset="-79"/>
                <a:sym typeface="SimHei"/>
              </a:rPr>
              <a:t>BIOLOGY</a:t>
            </a:r>
            <a:endParaRPr lang="en-US" altLang="zh-CN" sz="1400" b="1" i="1" u="none" strike="noStrike" dirty="0">
              <a:solidFill>
                <a:srgbClr val="FF2B20"/>
              </a:solidFill>
              <a:latin typeface="Didot" panose="02000503000000020003" pitchFamily="2" charset="-79"/>
              <a:ea typeface="MiSans VF Bold" pitchFamily="2" charset="-122"/>
              <a:cs typeface="Didot" panose="02000503000000020003" pitchFamily="2" charset="-79"/>
              <a:sym typeface="SimHei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id="{8B48226C-70B1-D951-9444-6D64053EAB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val="0"/>
              </a:ext>
            </a:extLst>
          </a:blip>
          <a:srcRect t="29311" b="29311"/>
          <a:stretch>
            <a:fillRect/>
          </a:stretch>
        </p:blipFill>
        <p:spPr>
          <a:xfrm>
            <a:off x="4365276" y="2302349"/>
            <a:ext cx="3480320" cy="1928758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id="{3ECA195B-4BC4-D7A3-7C98-EBC5CD31CE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val="0"/>
              </a:ext>
            </a:extLst>
          </a:blip>
          <a:srcRect t="29311" b="29311"/>
          <a:stretch>
            <a:fillRect/>
          </a:stretch>
        </p:blipFill>
        <p:spPr>
          <a:xfrm>
            <a:off x="524796" y="2295559"/>
            <a:ext cx="3480320" cy="192875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id="{CBB63147-B931-9E83-B796-0B4E8993A8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val="0"/>
              </a:ext>
            </a:extLst>
          </a:blip>
          <a:srcRect t="29311" b="29311"/>
          <a:stretch>
            <a:fillRect/>
          </a:stretch>
        </p:blipFill>
        <p:spPr>
          <a:xfrm>
            <a:off x="8205756" y="2302349"/>
            <a:ext cx="3480320" cy="1928758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id="{9A0EA5EB-556D-1411-995F-178F17A06613}"/>
              </a:ext>
            </a:extLst>
          </p:cNvPr>
          <p:cNvSpPr txBox="1"/>
          <p:nvPr/>
        </p:nvSpPr>
        <p:spPr>
          <a:xfrm>
            <a:off x="524796" y="4908953"/>
            <a:ext cx="3319001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门在第 400 拍关上</a:t>
            </a:r>
          </a:p>
        </p:txBody>
      </p:sp>
      <p:sp>
        <p:nvSpPr>
          <p:cNvPr id="12" name="文本框 11">
            <a:extLst>
              <a:ext uri="{FF2B5EF4-FFF2-40B4-BE49-F238E27FC236}">
                <a16:creationId id="{3847B955-84CD-7160-E6F7-E14BF0282D8C}"/>
              </a:ext>
            </a:extLst>
          </p:cNvPr>
          <p:cNvSpPr txBox="1"/>
          <p:nvPr/>
        </p:nvSpPr>
        <p:spPr>
          <a:xfrm>
            <a:off x="4362505" y="4493086"/>
            <a:ext cx="3319001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600" dirty="0">
                <a:solidFill>
                  <a:srgbClr val="F7F7F5"/>
                </a:solidFill>
                <a:latin typeface="Didot" panose="02000503000000020003" pitchFamily="2" charset="-79"/>
                <a:ea typeface="MiSans VF Bold" pitchFamily="2" charset="-122"/>
                <a:cs typeface="Didot" panose="02000503000000020003" pitchFamily="2" charset="-79"/>
                <a:sym typeface="SimHei"/>
              </a:rPr>
              <a:t>H2 · 剂量-反应</a:t>
            </a:r>
          </a:p>
        </p:txBody>
      </p:sp>
      <p:sp>
        <p:nvSpPr>
          <p:cNvPr id="13" name="文本框 12">
            <a:extLst>
              <a:ext uri="{FF2B5EF4-FFF2-40B4-BE49-F238E27FC236}">
                <a16:creationId id="{829845F5-7CC0-75D4-07A3-A234B1960F32}"/>
              </a:ext>
            </a:extLst>
          </p:cNvPr>
          <p:cNvSpPr txBox="1"/>
          <p:nvPr/>
        </p:nvSpPr>
        <p:spPr>
          <a:xfrm>
            <a:off x="4362505" y="4908953"/>
            <a:ext cx="3319001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50 拍即达最大效应 89.8%，属阈值型而非线性</a:t>
            </a:r>
          </a:p>
        </p:txBody>
      </p:sp>
      <p:sp>
        <p:nvSpPr>
          <p:cNvPr id="14" name="文本框 13">
            <a:extLst>
              <a:ext uri="{FF2B5EF4-FFF2-40B4-BE49-F238E27FC236}">
                <a16:creationId id="{B5C380DF-0131-3088-39BF-A168647DFD40}"/>
              </a:ext>
            </a:extLst>
          </p:cNvPr>
          <p:cNvSpPr txBox="1"/>
          <p:nvPr/>
        </p:nvSpPr>
        <p:spPr>
          <a:xfrm>
            <a:off x="8200214" y="4493086"/>
            <a:ext cx="3319001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600" dirty="0">
                <a:solidFill>
                  <a:srgbClr val="F7F7F5"/>
                </a:solidFill>
                <a:latin typeface="Didot" panose="02000503000000020003" pitchFamily="2" charset="-79"/>
                <a:ea typeface="MiSans VF Bold" pitchFamily="2" charset="-122"/>
                <a:cs typeface="Didot" panose="02000503000000020003" pitchFamily="2" charset="-79"/>
                <a:sym typeface="SimHei"/>
              </a:rPr>
              <a:t>H3 · 选择压</a:t>
            </a:r>
          </a:p>
        </p:txBody>
      </p:sp>
      <p:sp>
        <p:nvSpPr>
          <p:cNvPr id="16" name="文本框 15">
            <a:extLst>
              <a:ext uri="{FF2B5EF4-FFF2-40B4-BE49-F238E27FC236}">
                <a16:creationId id="{59211C5B-AA80-DAEA-AAF7-C4B1E4F95193}"/>
              </a:ext>
            </a:extLst>
          </p:cNvPr>
          <p:cNvSpPr txBox="1"/>
          <p:nvPr/>
        </p:nvSpPr>
        <p:spPr>
          <a:xfrm>
            <a:off x="8200214" y="4908953"/>
            <a:ext cx="3319001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ratio≥1.0 时结构精确归零：稀缺是开关，不是旋钮</a:t>
            </a:r>
          </a:p>
        </p:txBody>
      </p:sp>
    </p:spTree>
    <p:extLst>
      <p:ext uri="{BB962C8B-B14F-4D97-AF65-F5344CB8AC3E}">
        <p14:creationId val="166021927"/>
      </p:ext>
    </p:extLst>
  </p:cSld>
  <p:clrMapOvr>
    <a:masterClrMapping/>
  </p:clrMapOvr>
</p:sld>
</file>

<file path=ppt/slides/slide11.xml><?xml version="1.0" encoding="utf-8"?>
<p:sld xmlns:a="http://schemas.openxmlformats.org/drawingml/2006/main" xmlns:a14="http://schemas.microsoft.com/office/drawing/2010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id="{CFC131D1-CEF3-C6AC-77B8-51C93F580F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id="{266E6DE7-1698-FFB8-55D8-8313DFF47BC8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EE2E566B-2DCF-D9CE-3F74-038B7921F12E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zh-CN" alt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C84594C4-D31C-3573-2ABF-64BC65C497FC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  <p:sp>
          <p:nvSpPr>
            <p:cNvPr id="7" name="AutoShape 2">
              <a:extLst>
                <a:ext uri="{FF2B5EF4-FFF2-40B4-BE49-F238E27FC236}">
                  <a16:creationId id="{F50746D6-595F-4313-FAFA-859B2355BAB2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</p:grpSp>
      <p:sp>
        <p:nvSpPr>
          <p:cNvPr id="9" name="AutoShape 2">
            <a:extLst>
              <a:ext uri="{FF2B5EF4-FFF2-40B4-BE49-F238E27FC236}">
                <a16:creationId id="{741F07B2-3569-1089-5E88-C74C2B988BB1}"/>
              </a:ext>
            </a:extLst>
          </p:cNvPr>
          <p:cNvSpPr/>
          <p:nvPr/>
        </p:nvSpPr>
        <p:spPr>
          <a:xfrm>
            <a:off x="524797" y="6295670"/>
            <a:ext cx="3077046" cy="141577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en-US" altLang="zh-CN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rPr>
              <a:t/>
            </a:r>
            <a:endParaRPr lang="en-US" sz="800" dirty="0">
              <a:solidFill>
                <a:srgbClr val="F7F7F5">
                  <a:alpha val="5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JetBrains Mono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id="{3F75E599-19AE-57C9-A21A-F83D181819BE}"/>
              </a:ext>
            </a:extLst>
          </p:cNvPr>
          <p:cNvSpPr txBox="1"/>
          <p:nvPr/>
        </p:nvSpPr>
        <p:spPr>
          <a:xfrm>
            <a:off x="9765793" y="1206343"/>
            <a:ext cx="19674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/>
            </a:pPr>
            <a:r>
              <a:rPr lang="en-US" altLang="zh-CN" b="1" i="1" dirty="0">
                <a:solidFill>
                  <a:srgbClr val="FF2B20"/>
                </a:solidFill>
                <a:latin typeface="Didot" panose="02000503000000020003" pitchFamily="2" charset="-79"/>
                <a:ea typeface="MiSans VF Bold" pitchFamily="2" charset="-122"/>
                <a:cs typeface="Didot" panose="02000503000000020003" pitchFamily="2" charset="-79"/>
                <a:sym typeface="SimHei"/>
              </a:rPr>
              <a:t>INTEGRATION</a:t>
            </a:r>
            <a:endParaRPr lang="en-US" altLang="zh-CN" sz="1400" b="1" i="1" u="none" strike="noStrike" dirty="0">
              <a:solidFill>
                <a:srgbClr val="FF2B20"/>
              </a:solidFill>
              <a:latin typeface="Didot" panose="02000503000000020003" pitchFamily="2" charset="-79"/>
              <a:ea typeface="MiSans VF Bold" pitchFamily="2" charset="-122"/>
              <a:cs typeface="Didot" panose="02000503000000020003" pitchFamily="2" charset="-79"/>
              <a:sym typeface="SimHei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id="{3EB6CDA3-C63F-7636-538D-A7229F9116B6}"/>
              </a:ext>
            </a:extLst>
          </p:cNvPr>
          <p:cNvSpPr/>
          <p:nvPr/>
        </p:nvSpPr>
        <p:spPr>
          <a:xfrm>
            <a:off x="524799" y="1206344"/>
            <a:ext cx="7489648" cy="615553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defRPr/>
            </a:pPr>
            <a:r>
              <a:rPr lang="zh-CN" altLang="en-US" sz="40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它不是又一个框架</a:t>
            </a:r>
            <a:endParaRPr lang="en-US" altLang="zh-CN" sz="4000" b="1" dirty="0">
              <a:solidFill>
                <a:srgbClr val="F7F7F5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id="{337A9725-EACC-493F-9A7E-6A129FB43649}"/>
              </a:ext>
            </a:extLst>
          </p:cNvPr>
          <p:cNvSpPr txBox="1"/>
          <p:nvPr/>
        </p:nvSpPr>
        <p:spPr>
          <a:xfrm>
            <a:off x="524798" y="3955829"/>
            <a:ext cx="3077045" cy="175432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核心 30 行，不改动原框架一行代码。原框架说我要多少，现在改说我分到了多少。</a:t>
            </a:r>
            <a:endParaRPr lang="en-US" altLang="zh-CN" sz="1200" dirty="0">
              <a:solidFill>
                <a:srgbClr val="F7F7F5">
                  <a:alpha val="8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SimHei"/>
            </a:endParaRP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</p:txBody>
      </p:sp>
      <p:pic>
        <p:nvPicPr>
          <p:cNvPr id="10" name="图片 9">
            <a:extLst>
              <a:ext uri="{FF2B5EF4-FFF2-40B4-BE49-F238E27FC236}">
                <a16:creationId id="{0B6BF2E2-950B-AFA6-4B5E-143828263A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val="0"/>
              </a:ext>
            </a:extLst>
          </a:blip>
          <a:stretch>
            <a:fillRect/>
          </a:stretch>
        </p:blipFill>
        <p:spPr>
          <a:xfrm>
            <a:off x="8014446" y="2057400"/>
            <a:ext cx="3652755" cy="3652755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id="{F4766FB0-3FC7-F802-B6AF-D81730B8F550}"/>
              </a:ext>
            </a:extLst>
          </p:cNvPr>
          <p:cNvSpPr txBox="1"/>
          <p:nvPr/>
        </p:nvSpPr>
        <p:spPr>
          <a:xfrm>
            <a:off x="5112252" y="5835363"/>
            <a:ext cx="19674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zh-CN" b="1" dirty="0">
                <a:solidFill>
                  <a:schemeClr val="tx1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BEFORE</a:t>
            </a:r>
            <a:endParaRPr lang="en-US" altLang="zh-CN" sz="1400" b="1" u="none" strike="noStrike" dirty="0">
              <a:solidFill>
                <a:schemeClr val="tx1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id="{2434B8CE-F702-C1A2-07AB-360B284DE9D5}"/>
              </a:ext>
            </a:extLst>
          </p:cNvPr>
          <p:cNvSpPr txBox="1"/>
          <p:nvPr/>
        </p:nvSpPr>
        <p:spPr>
          <a:xfrm>
            <a:off x="8857077" y="5835363"/>
            <a:ext cx="19674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zh-CN" b="1" dirty="0">
                <a:solidFill>
                  <a:schemeClr val="tx1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AFTER</a:t>
            </a:r>
            <a:endParaRPr lang="en-US" altLang="zh-CN" sz="1400" b="1" u="none" strike="noStrike" dirty="0">
              <a:solidFill>
                <a:schemeClr val="tx1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id="{FE497627-EC90-2DC0-FAA4-EA3E5A214D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val="0"/>
              </a:ext>
            </a:extLst>
          </a:blip>
          <a:stretch>
            <a:fillRect/>
          </a:stretch>
        </p:blipFill>
        <p:spPr>
          <a:xfrm>
            <a:off x="4269621" y="2057400"/>
            <a:ext cx="3652755" cy="3652755"/>
          </a:xfrm>
          <a:prstGeom prst="rect">
            <a:avLst/>
          </a:prstGeom>
        </p:spPr>
      </p:pic>
    </p:spTree>
    <p:extLst>
      <p:ext uri="{BB962C8B-B14F-4D97-AF65-F5344CB8AC3E}">
        <p14:creationId val="2127170319"/>
      </p:ext>
    </p:extLst>
  </p:cSld>
  <p:clrMapOvr>
    <a:masterClrMapping/>
  </p:clrMapOvr>
</p:sld>
</file>

<file path=ppt/slides/slide13.xml><?xml version="1.0" encoding="utf-8"?>
<p:sld xmlns:a="http://schemas.openxmlformats.org/drawingml/2006/main" xmlns:a16="http://schemas.microsoft.com/office/drawing/2014/main" xmlns:c="http://schemas.openxmlformats.org/drawingml/2006/chart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id="{8F5D1BDB-50D1-598D-5CBC-C7F28A2F0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id="{96EBE4BF-D6E8-071B-A0D5-AAE1B363E7EE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13F7C4F4-58AA-847E-3DCC-D467195FC72F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zh-CN" alt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DEBAD1B9-2C99-5A88-06E8-C1ECA1189455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  <p:sp>
          <p:nvSpPr>
            <p:cNvPr id="7" name="AutoShape 2">
              <a:extLst>
                <a:ext uri="{FF2B5EF4-FFF2-40B4-BE49-F238E27FC236}">
                  <a16:creationId id="{4EC9550B-FCE4-244F-3506-15373811894F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</p:grpSp>
      <p:sp>
        <p:nvSpPr>
          <p:cNvPr id="9" name="AutoShape 2">
            <a:extLst>
              <a:ext uri="{FF2B5EF4-FFF2-40B4-BE49-F238E27FC236}">
                <a16:creationId id="{0801CD8B-952A-2949-1D71-C755253B5DD7}"/>
              </a:ext>
            </a:extLst>
          </p:cNvPr>
          <p:cNvSpPr/>
          <p:nvPr/>
        </p:nvSpPr>
        <p:spPr>
          <a:xfrm>
            <a:off x="524797" y="6295670"/>
            <a:ext cx="3077046" cy="141577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en-US" altLang="zh-CN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rPr>
              <a:t/>
            </a:r>
            <a:endParaRPr lang="en-US" sz="800" dirty="0">
              <a:solidFill>
                <a:srgbClr val="F7F7F5">
                  <a:alpha val="5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JetBrains Mono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id="{BC460A70-9F17-D6EE-663D-F1DB78020284}"/>
              </a:ext>
            </a:extLst>
          </p:cNvPr>
          <p:cNvSpPr txBox="1"/>
          <p:nvPr/>
        </p:nvSpPr>
        <p:spPr>
          <a:xfrm>
            <a:off x="9765793" y="1206343"/>
            <a:ext cx="19674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/>
            </a:pPr>
            <a:r>
              <a:rPr lang="en-US" altLang="zh-CN" b="1" i="1" dirty="0">
                <a:solidFill>
                  <a:srgbClr val="FF2B20"/>
                </a:solidFill>
                <a:latin typeface="Didot" panose="02000503000000020003" pitchFamily="2" charset="-79"/>
                <a:ea typeface="MiSans VF Bold" pitchFamily="2" charset="-122"/>
                <a:cs typeface="Didot" panose="02000503000000020003" pitchFamily="2" charset="-79"/>
                <a:sym typeface="SimHei"/>
              </a:rPr>
              <a:t>FINDING 02</a:t>
            </a:r>
            <a:endParaRPr lang="en-US" altLang="zh-CN" sz="1400" b="1" i="1" u="none" strike="noStrike" dirty="0">
              <a:solidFill>
                <a:srgbClr val="FF2B20"/>
              </a:solidFill>
              <a:latin typeface="Didot" panose="02000503000000020003" pitchFamily="2" charset="-79"/>
              <a:ea typeface="MiSans VF Bold" pitchFamily="2" charset="-122"/>
              <a:cs typeface="Didot" panose="02000503000000020003" pitchFamily="2" charset="-79"/>
              <a:sym typeface="SimHei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id="{E1BA5FBA-5836-5D8A-C33E-421550FF18BA}"/>
              </a:ext>
            </a:extLst>
          </p:cNvPr>
          <p:cNvSpPr/>
          <p:nvPr/>
        </p:nvSpPr>
        <p:spPr>
          <a:xfrm>
            <a:off x="524799" y="1206344"/>
            <a:ext cx="7832392" cy="615553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defRPr/>
            </a:pPr>
            <a:r>
              <a:rPr lang="zh-CN" altLang="en-US" sz="40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稀缺与不可逆是焊死的</a:t>
            </a:r>
            <a:endParaRPr lang="en-US" altLang="zh-CN" sz="4000" b="1" dirty="0">
              <a:solidFill>
                <a:srgbClr val="F7F7F5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id="{8A149F76-CC94-F809-65B6-D65EF3ADEC81}"/>
              </a:ext>
            </a:extLst>
          </p:cNvPr>
          <p:cNvSpPr txBox="1"/>
          <p:nvPr/>
        </p:nvSpPr>
        <p:spPr>
          <a:xfrm>
            <a:off x="524797" y="4189719"/>
            <a:ext cx="3077045" cy="175432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撤掉稀缺就永远不饿，疤痕从不形成；撤掉不可逆，结构在撤除瞬间塌回均匀。</a:t>
            </a:r>
            <a:endParaRPr lang="en-US" altLang="zh-CN" sz="1200" dirty="0">
              <a:solidFill>
                <a:srgbClr val="F7F7F5">
                  <a:alpha val="8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SimHei"/>
            </a:endParaRP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</p:txBody>
      </p:sp>
      <p:graphicFrame>
        <p:nvGraphicFramePr>
          <p:cNvPr id="6" name="159">
            <a:extLst>
              <a:ext uri="{FF2B5EF4-FFF2-40B4-BE49-F238E27FC236}">
                <a16:creationId id="{A52B4077-F662-D01B-7578-086FAB2FC4F4}"/>
              </a:ext>
            </a:extLst>
          </p:cNvPr>
          <p:cNvGraphicFramePr/>
          <p:nvPr>
            <p:extLst>
              <p:ext uri="{D42A27DB-BD31-4B8C-83A1-F6EECF244321}">
                <p14:modId val="1740418208"/>
              </p:ext>
            </p:extLst>
          </p:nvPr>
        </p:nvGraphicFramePr>
        <p:xfrm>
          <a:off x="5016648" y="2319645"/>
          <a:ext cx="6716635" cy="3740148"/>
        </p:xfrm>
        <a:graphic>
          <a:graphicData uri="http://schemas.openxmlformats.org/drawingml/2006/chart">
            <c:chart r:id="rId2"/>
          </a:graphicData>
        </a:graphic>
      </p:graphicFrame>
    </p:spTree>
    <p:extLst>
      <p:ext uri="{BB962C8B-B14F-4D97-AF65-F5344CB8AC3E}">
        <p14:creationId val="1785801108"/>
      </p:ext>
    </p:extLst>
  </p:cSld>
  <p:clrMapOvr>
    <a:masterClrMapping/>
  </p:clrMapOvr>
</p:sld>
</file>

<file path=ppt/slides/slide14.xml><?xml version="1.0" encoding="utf-8"?>
<p:sld xmlns:a="http://schemas.openxmlformats.org/drawingml/2006/main" xmlns:a16="http://schemas.microsoft.com/office/drawing/2014/main" xmlns:c="http://schemas.openxmlformats.org/drawingml/2006/chart" xmlns:p="http://schemas.openxmlformats.org/presentationml/2006/main" xmlns:p14="http://schemas.microsoft.com/office/powerpoint/2010/main" xmlns:r="http://schemas.openxmlformats.org/officeDocument/2006/relationships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id="{A212CB99-4CD3-B7C0-D0FF-2ADCD87CC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id="{F96E250E-5D02-34BD-9AC5-3E06ACBDCF59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ED4DF19A-246E-507F-9405-7B6814BF47A0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0B0B0C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zh-CN" altLang="en-US" sz="800" dirty="0">
                  <a:solidFill>
                    <a:srgbClr val="0B0B0C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0B0B0C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0B0B0C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06F2A5F3-2749-AF9C-5AAF-439D9448C6F1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0B0B0C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0B0B0C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  <p:sp>
          <p:nvSpPr>
            <p:cNvPr id="7" name="AutoShape 2">
              <a:extLst>
                <a:ext uri="{FF2B5EF4-FFF2-40B4-BE49-F238E27FC236}">
                  <a16:creationId id="{ED63379F-3396-A36B-9520-BB0C1BED6BDD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0B0B0C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0B0B0C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</p:grpSp>
      <p:sp>
        <p:nvSpPr>
          <p:cNvPr id="9" name="AutoShape 2">
            <a:extLst>
              <a:ext uri="{FF2B5EF4-FFF2-40B4-BE49-F238E27FC236}">
                <a16:creationId id="{807EA64E-1BCB-6D94-702D-53897CBE125C}"/>
              </a:ext>
            </a:extLst>
          </p:cNvPr>
          <p:cNvSpPr/>
          <p:nvPr/>
        </p:nvSpPr>
        <p:spPr>
          <a:xfrm>
            <a:off x="524797" y="6295670"/>
            <a:ext cx="3077046" cy="141577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en-US" altLang="zh-CN" sz="800" dirty="0">
                <a:solidFill>
                  <a:srgbClr val="0B0B0C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rPr>
              <a:t/>
            </a:r>
            <a:endParaRPr lang="en-US" sz="800" dirty="0">
              <a:solidFill>
                <a:srgbClr val="0B0B0C">
                  <a:alpha val="5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JetBrains Mono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id="{C4DEAFCA-42F4-470D-1383-2F8F2FD6F265}"/>
              </a:ext>
            </a:extLst>
          </p:cNvPr>
          <p:cNvSpPr txBox="1"/>
          <p:nvPr/>
        </p:nvSpPr>
        <p:spPr>
          <a:xfrm>
            <a:off x="9765793" y="1206343"/>
            <a:ext cx="19674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/>
            </a:pPr>
            <a:r>
              <a:rPr lang="en-US" altLang="zh-CN" b="1" i="1" dirty="0">
                <a:solidFill>
                  <a:srgbClr val="E62B1E"/>
                </a:solidFill>
                <a:latin typeface="Didot" panose="02000503000000020003" pitchFamily="2" charset="-79"/>
                <a:ea typeface="MiSans VF Bold" pitchFamily="2" charset="-122"/>
                <a:cs typeface="Didot" panose="02000503000000020003" pitchFamily="2" charset="-79"/>
                <a:sym typeface="SimHei"/>
              </a:rPr>
              <a:t>FINDING 03</a:t>
            </a:r>
            <a:endParaRPr lang="en-US" altLang="zh-CN" sz="1400" b="1" i="1" u="none" strike="noStrike" dirty="0">
              <a:solidFill>
                <a:srgbClr val="E62B1E"/>
              </a:solidFill>
              <a:latin typeface="Didot" panose="02000503000000020003" pitchFamily="2" charset="-79"/>
              <a:ea typeface="MiSans VF Bold" pitchFamily="2" charset="-122"/>
              <a:cs typeface="Didot" panose="02000503000000020003" pitchFamily="2" charset="-79"/>
              <a:sym typeface="SimHei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id="{CC22604E-A468-41F3-72E3-DDA249189E72}"/>
              </a:ext>
            </a:extLst>
          </p:cNvPr>
          <p:cNvSpPr/>
          <p:nvPr/>
        </p:nvSpPr>
        <p:spPr>
          <a:xfrm>
            <a:off x="524799" y="1206344"/>
            <a:ext cx="8938178" cy="615553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defRPr/>
            </a:pPr>
            <a:r>
              <a:rPr lang="zh-CN" altLang="en-US" sz="4000" b="1" dirty="0">
                <a:solidFill>
                  <a:srgbClr val="0B0B0C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结构有关键期，早给早撤优于全程</a:t>
            </a:r>
            <a:endParaRPr lang="en-US" altLang="zh-CN" sz="4000" b="1" dirty="0">
              <a:solidFill>
                <a:srgbClr val="0B0B0C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id="{B146946D-2DB9-28AF-D3CB-159D5B7DC4B1}"/>
              </a:ext>
            </a:extLst>
          </p:cNvPr>
          <p:cNvSpPr txBox="1"/>
          <p:nvPr/>
        </p:nvSpPr>
        <p:spPr>
          <a:xfrm>
            <a:off x="524797" y="4189719"/>
            <a:ext cx="3077045" cy="175432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0B0B0C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早期 0–150 拍引导后撤除，终态偏度 1.0933，强于全程施加的 0.8502。</a:t>
            </a:r>
            <a:endParaRPr lang="en-US" altLang="zh-CN" sz="1200" dirty="0">
              <a:solidFill>
                <a:srgbClr val="0B0B0C">
                  <a:alpha val="8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SimHei"/>
            </a:endParaRP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0B0B0C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0B0B0C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0B0B0C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</p:txBody>
      </p:sp>
      <p:graphicFrame>
        <p:nvGraphicFramePr>
          <p:cNvPr id="6" name="159">
            <a:extLst>
              <a:ext uri="{FF2B5EF4-FFF2-40B4-BE49-F238E27FC236}">
                <a16:creationId id="{555CAA42-4DEC-8405-036D-0ADC74683881}"/>
              </a:ext>
            </a:extLst>
          </p:cNvPr>
          <p:cNvGraphicFramePr/>
          <p:nvPr>
            <p:extLst>
              <p:ext uri="{D42A27DB-BD31-4B8C-83A1-F6EECF244321}">
                <p14:modId val="92227262"/>
              </p:ext>
            </p:extLst>
          </p:nvPr>
        </p:nvGraphicFramePr>
        <p:xfrm>
          <a:off x="5016648" y="2319645"/>
          <a:ext cx="6716635" cy="3740148"/>
        </p:xfrm>
        <a:graphic>
          <a:graphicData uri="http://schemas.openxmlformats.org/drawingml/2006/chart">
            <c:chart r:id="rId2"/>
          </a:graphicData>
        </a:graphic>
      </p:graphicFrame>
    </p:spTree>
    <p:extLst>
      <p:ext uri="{BB962C8B-B14F-4D97-AF65-F5344CB8AC3E}">
        <p14:creationId val="3777681054"/>
      </p:ext>
    </p:extLst>
  </p:cSld>
  <p:clrMapOvr>
    <a:masterClrMapping/>
  </p:clrMapOvr>
</p:sld>
</file>

<file path=ppt/slides/slide15.xml><?xml version="1.0" encoding="utf-8"?>
<p:sld xmlns:a="http://schemas.openxmlformats.org/drawingml/2006/main" xmlns:a14="http://schemas.microsoft.com/office/drawing/2010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id="{31CCDD0B-2C8A-3204-E7B2-78E89D747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id="{C692C1DB-82C8-457C-1ED4-3348D0DD6853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0370C5CA-193E-016B-9F02-EEC49C0E9939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zh-CN" alt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785CD770-9E67-216F-2BB7-64D90D4F5704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  <p:sp>
          <p:nvSpPr>
            <p:cNvPr id="7" name="AutoShape 2">
              <a:extLst>
                <a:ext uri="{FF2B5EF4-FFF2-40B4-BE49-F238E27FC236}">
                  <a16:creationId id="{D55BE769-37EB-8D58-11C5-1FAC7ED35B64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</p:grpSp>
      <p:sp>
        <p:nvSpPr>
          <p:cNvPr id="9" name="AutoShape 2">
            <a:extLst>
              <a:ext uri="{FF2B5EF4-FFF2-40B4-BE49-F238E27FC236}">
                <a16:creationId id="{95EE00B2-9194-2F8B-B691-BBED769A8B3A}"/>
              </a:ext>
            </a:extLst>
          </p:cNvPr>
          <p:cNvSpPr/>
          <p:nvPr/>
        </p:nvSpPr>
        <p:spPr>
          <a:xfrm>
            <a:off x="524797" y="6295670"/>
            <a:ext cx="3077046" cy="141577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en-US" altLang="zh-CN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rPr>
              <a:t/>
            </a:r>
            <a:endParaRPr lang="en-US" sz="800" dirty="0">
              <a:solidFill>
                <a:srgbClr val="F7F7F5">
                  <a:alpha val="5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JetBrains Mono"/>
            </a:endParaRPr>
          </a:p>
        </p:txBody>
      </p:sp>
      <p:sp>
        <p:nvSpPr>
          <p:cNvPr id="24" name="AutoShape 5">
            <a:extLst>
              <a:ext uri="{FF2B5EF4-FFF2-40B4-BE49-F238E27FC236}">
                <a16:creationId id="{31BDD916-53D5-E344-4BE1-7448C8EAEDF6}"/>
              </a:ext>
            </a:extLst>
          </p:cNvPr>
          <p:cNvSpPr/>
          <p:nvPr/>
        </p:nvSpPr>
        <p:spPr>
          <a:xfrm>
            <a:off x="524799" y="1206344"/>
            <a:ext cx="4495436" cy="615553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rmAutofit/>
          </a:bodyPr>
          <a:lstStyle/>
          <a:p>
            <a:pPr>
              <a:defRPr/>
            </a:pPr>
            <a:r>
              <a:rPr lang="zh-CN" altLang="en-US" sz="328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我们开源了全部失败</a:t>
            </a:r>
            <a:endParaRPr lang="en-US" altLang="zh-CN" sz="3280" b="1" dirty="0">
              <a:solidFill>
                <a:srgbClr val="F7F7F5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id="{128D8858-4D4A-22B9-717F-09A2C9426970}"/>
              </a:ext>
            </a:extLst>
          </p:cNvPr>
          <p:cNvSpPr txBox="1"/>
          <p:nvPr/>
        </p:nvSpPr>
        <p:spPr>
          <a:xfrm>
            <a:off x="524797" y="4189719"/>
            <a:ext cx="3077045" cy="175432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141 条带代码可复现的失败模式，53 份含被推翻预注册判据的实验报告。</a:t>
            </a:r>
            <a:endParaRPr lang="en-US" altLang="zh-CN" sz="1200" dirty="0">
              <a:solidFill>
                <a:srgbClr val="F7F7F5">
                  <a:alpha val="8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SimHei"/>
            </a:endParaRP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三十秒就能编出一个可信的成功故事，但编不出 141 条带代码的失败记录。</a:t>
            </a: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</p:txBody>
      </p:sp>
      <p:pic>
        <p:nvPicPr>
          <p:cNvPr id="10" name="图片 9">
            <a:extLst>
              <a:ext uri="{FF2B5EF4-FFF2-40B4-BE49-F238E27FC236}">
                <a16:creationId id="{CC06A9E3-ED15-D47B-FA99-9277936993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val="0"/>
              </a:ext>
            </a:extLst>
          </a:blip>
          <a:srcRect l="16827" r="16827"/>
          <a:stretch>
            <a:fillRect/>
          </a:stretch>
        </p:blipFill>
        <p:spPr>
          <a:xfrm>
            <a:off x="5317159" y="859394"/>
            <a:ext cx="6416125" cy="5436276"/>
          </a:xfrm>
          <a:prstGeom prst="rect">
            <a:avLst/>
          </a:prstGeom>
        </p:spPr>
      </p:pic>
    </p:spTree>
    <p:extLst>
      <p:ext uri="{BB962C8B-B14F-4D97-AF65-F5344CB8AC3E}">
        <p14:creationId val="1091663674"/>
      </p:ext>
    </p:extLst>
  </p:cSld>
  <p:clrMapOvr>
    <a:masterClrMapping/>
  </p:clrMapOvr>
</p:sld>
</file>

<file path=ppt/slides/slide16.xml><?xml version="1.0" encoding="utf-8"?>
<p:sld xmlns:a="http://schemas.openxmlformats.org/drawingml/2006/main" xmlns:a14="http://schemas.microsoft.com/office/drawing/2010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id="{3D593892-A73B-6E87-57A1-09EB8FDC4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id="{364D3EB5-73CA-258A-EDE0-71E72032B47E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4A40C6B6-642F-C96E-CDA3-CA89C74B5577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D8D8D8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zh-CN" altLang="en-US" sz="800" dirty="0">
                  <a:solidFill>
                    <a:srgbClr val="D8D8D8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D8D8D8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D8D8D8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988C8751-F154-78CE-1062-20BDE91B6244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D8D8D8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D8D8D8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  <p:sp>
          <p:nvSpPr>
            <p:cNvPr id="7" name="AutoShape 2">
              <a:extLst>
                <a:ext uri="{FF2B5EF4-FFF2-40B4-BE49-F238E27FC236}">
                  <a16:creationId id="{6E597B1C-5874-906B-E443-282F76CB3A50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</p:grpSp>
      <p:sp>
        <p:nvSpPr>
          <p:cNvPr id="9" name="AutoShape 2">
            <a:extLst>
              <a:ext uri="{FF2B5EF4-FFF2-40B4-BE49-F238E27FC236}">
                <a16:creationId id="{3CC782F3-14AB-200C-ECBB-7374DFA02616}"/>
              </a:ext>
            </a:extLst>
          </p:cNvPr>
          <p:cNvSpPr/>
          <p:nvPr/>
        </p:nvSpPr>
        <p:spPr>
          <a:xfrm>
            <a:off x="524797" y="6295670"/>
            <a:ext cx="3077046" cy="141577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en-US" altLang="zh-CN" sz="800" dirty="0">
                <a:solidFill>
                  <a:srgbClr val="D8D8D8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rPr>
              <a:t/>
            </a:r>
            <a:endParaRPr lang="en-US" sz="800" dirty="0">
              <a:solidFill>
                <a:srgbClr val="D8D8D8">
                  <a:alpha val="5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JetBrains Mono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id="{BCBCCC5D-D63D-1B28-A4E8-BA024CC191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val="0"/>
              </a:ext>
            </a:extLst>
          </a:blip>
          <a:stretch>
            <a:fillRect/>
          </a:stretch>
        </p:blipFill>
        <p:spPr>
          <a:xfrm>
            <a:off x="3340188" y="1069129"/>
            <a:ext cx="8393096" cy="4718606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id="{0AD63BB1-C153-ADA2-BA80-FD0C1C75A02F}"/>
              </a:ext>
            </a:extLst>
          </p:cNvPr>
          <p:cNvSpPr/>
          <p:nvPr/>
        </p:nvSpPr>
        <p:spPr>
          <a:xfrm>
            <a:off x="524795" y="1069129"/>
            <a:ext cx="2767045" cy="4719741"/>
          </a:xfrm>
          <a:prstGeom prst="rect">
            <a:avLst/>
          </a:prstGeom>
          <a:solidFill>
            <a:srgbClr val="E62B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i="1" dirty="0">
                <a:solidFill>
                  <a:schemeClr val="tx1"/>
                </a:solidFill>
                <a:latin typeface="Didot" panose="02000503000000020003" pitchFamily="2" charset="-79"/>
                <a:ea typeface="MiSans VF Bold" pitchFamily="2" charset="-122"/>
                <a:cs typeface="Didot" panose="02000503000000020003" pitchFamily="2" charset="-79"/>
                <a:sym typeface="SimHei"/>
              </a:rPr>
              <a:t>当它必须取舍、必须记住</a:t>
            </a:r>
          </a:p>
          <a:p>
            <a:pPr algn="ctr"/>
            <a:r>
              <a:rPr lang="en-US" altLang="zh-CN" b="1" i="1" dirty="0">
                <a:solidFill>
                  <a:schemeClr val="tx1"/>
                </a:solidFill>
                <a:latin typeface="Didot" panose="02000503000000020003" pitchFamily="2" charset="-79"/>
                <a:ea typeface="MiSans VF Bold" pitchFamily="2" charset="-122"/>
                <a:cs typeface="Didot" panose="02000503000000020003" pitchFamily="2" charset="-79"/>
                <a:sym typeface="SimHei"/>
              </a:rPr>
              <a:t>而且真的会死的时候，它是什么</a:t>
            </a:r>
          </a:p>
        </p:txBody>
      </p:sp>
    </p:spTree>
    <p:extLst>
      <p:ext uri="{BB962C8B-B14F-4D97-AF65-F5344CB8AC3E}">
        <p14:creationId val="1001948285"/>
      </p:ext>
    </p:extLst>
  </p:cSld>
  <p:clrMapOvr>
    <a:masterClrMapping/>
  </p:clrMapOvr>
</p:sld>
</file>

<file path=ppt/slides/slide17.xml><?xml version="1.0" encoding="utf-8"?>
<p:sld xmlns:a="http://schemas.openxmlformats.org/drawingml/2006/main" xmlns:a14="http://schemas.microsoft.com/office/drawing/2010/main" xmlns:a16="http://schemas.microsoft.com/office/drawing/2014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id="{0733E767-E071-1B3D-EC94-ACFA47081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id="{C3074BD4-4DDE-D321-F1A9-EEF8FF1A076C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1B9905FF-442A-A874-54EB-EF8955B48884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zh-CN" alt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4E0A8210-1F5D-A3C2-8882-FAAD17F19456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  <p:sp>
          <p:nvSpPr>
            <p:cNvPr id="7" name="AutoShape 2">
              <a:extLst>
                <a:ext uri="{FF2B5EF4-FFF2-40B4-BE49-F238E27FC236}">
                  <a16:creationId id="{31A8279E-4031-98DF-4AE0-0FD294CB1063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</p:grpSp>
      <p:sp>
        <p:nvSpPr>
          <p:cNvPr id="9" name="AutoShape 2">
            <a:extLst>
              <a:ext uri="{FF2B5EF4-FFF2-40B4-BE49-F238E27FC236}">
                <a16:creationId id="{91770C30-0C43-023C-43F7-CBBF6EB7E9F3}"/>
              </a:ext>
            </a:extLst>
          </p:cNvPr>
          <p:cNvSpPr/>
          <p:nvPr/>
        </p:nvSpPr>
        <p:spPr>
          <a:xfrm>
            <a:off x="524797" y="6295670"/>
            <a:ext cx="3077046" cy="141577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en-US" altLang="zh-CN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rPr>
              <a:t/>
            </a:r>
            <a:endParaRPr lang="en-US" sz="800" dirty="0">
              <a:solidFill>
                <a:srgbClr val="F7F7F5">
                  <a:alpha val="5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JetBrains Mono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id="{7ECCDBCC-DA2E-2003-7153-CB77481A82CB}"/>
              </a:ext>
            </a:extLst>
          </p:cNvPr>
          <p:cNvSpPr txBox="1"/>
          <p:nvPr/>
        </p:nvSpPr>
        <p:spPr>
          <a:xfrm>
            <a:off x="9765793" y="1206343"/>
            <a:ext cx="19674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/>
            </a:pPr>
            <a:r>
              <a:rPr lang="en-US" altLang="zh-CN" b="1" i="1" dirty="0">
                <a:solidFill>
                  <a:srgbClr val="FF2B20"/>
                </a:solidFill>
                <a:latin typeface="Didot" panose="02000503000000020003" pitchFamily="2" charset="-79"/>
                <a:ea typeface="MiSans VF Bold" pitchFamily="2" charset="-122"/>
                <a:cs typeface="Didot" panose="02000503000000020003" pitchFamily="2" charset="-79"/>
                <a:sym typeface="SimHei"/>
              </a:rPr>
              <a:t>FINDING 01</a:t>
            </a:r>
            <a:endParaRPr lang="en-US" altLang="zh-CN" sz="1400" b="1" i="1" u="none" strike="noStrike" dirty="0">
              <a:solidFill>
                <a:srgbClr val="FF2B20"/>
              </a:solidFill>
              <a:latin typeface="Didot" panose="02000503000000020003" pitchFamily="2" charset="-79"/>
              <a:ea typeface="MiSans VF Bold" pitchFamily="2" charset="-122"/>
              <a:cs typeface="Didot" panose="02000503000000020003" pitchFamily="2" charset="-79"/>
              <a:sym typeface="SimHei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id="{996F59E9-3AEC-AC0F-24B7-4432260900C8}"/>
              </a:ext>
            </a:extLst>
          </p:cNvPr>
          <p:cNvSpPr/>
          <p:nvPr/>
        </p:nvSpPr>
        <p:spPr>
          <a:xfrm>
            <a:off x="524798" y="1206344"/>
            <a:ext cx="9083225" cy="615553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defRPr/>
            </a:pPr>
            <a:r>
              <a:rPr lang="zh-CN" altLang="en-US" sz="40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关掉全部决策模块</a:t>
            </a:r>
            <a:r>
              <a:rPr lang="zh-CN" altLang="en-US" sz="4000" b="1" dirty="0">
                <a:solidFill>
                  <a:srgbClr val="FF2B20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/>
            </a:r>
            <a:endParaRPr lang="en-US" altLang="zh-CN" sz="4000" b="1" dirty="0">
              <a:solidFill>
                <a:srgbClr val="FF2B20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cxnSp>
        <p:nvCxnSpPr>
          <p:cNvPr id="10" name="直线连接符 9">
            <a:extLst>
              <a:ext uri="{FF2B5EF4-FFF2-40B4-BE49-F238E27FC236}">
                <a16:creationId id="{2B827151-4276-74C6-9148-F54B8FA729DD}"/>
              </a:ext>
            </a:extLst>
          </p:cNvPr>
          <p:cNvCxnSpPr>
            <a:cxnSpLocks/>
          </p:cNvCxnSpPr>
          <p:nvPr/>
        </p:nvCxnSpPr>
        <p:spPr>
          <a:xfrm>
            <a:off x="524799" y="2161018"/>
            <a:ext cx="11208485" cy="0"/>
          </a:xfrm>
          <a:prstGeom prst="line">
            <a:avLst/>
          </a:prstGeom>
          <a:ln>
            <a:solidFill>
              <a:srgbClr val="F7F7F5">
                <a:alpha val="1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线连接符 12">
            <a:extLst>
              <a:ext uri="{FF2B5EF4-FFF2-40B4-BE49-F238E27FC236}">
                <a16:creationId id="{06CEF79B-BDA5-B5C4-FDCC-21292344526C}"/>
              </a:ext>
            </a:extLst>
          </p:cNvPr>
          <p:cNvCxnSpPr>
            <a:cxnSpLocks/>
          </p:cNvCxnSpPr>
          <p:nvPr/>
        </p:nvCxnSpPr>
        <p:spPr>
          <a:xfrm>
            <a:off x="6095999" y="2161018"/>
            <a:ext cx="0" cy="3724494"/>
          </a:xfrm>
          <a:prstGeom prst="line">
            <a:avLst/>
          </a:prstGeom>
          <a:ln>
            <a:solidFill>
              <a:srgbClr val="F7F7F5">
                <a:alpha val="1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AutoShape 5">
            <a:extLst>
              <a:ext uri="{FF2B5EF4-FFF2-40B4-BE49-F238E27FC236}">
                <a16:creationId id="{A1DA29C7-D35A-DCF5-C758-3742317B3C92}"/>
              </a:ext>
            </a:extLst>
          </p:cNvPr>
          <p:cNvSpPr/>
          <p:nvPr/>
        </p:nvSpPr>
        <p:spPr>
          <a:xfrm>
            <a:off x="524799" y="2532397"/>
            <a:ext cx="4495436" cy="307777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defRPr/>
            </a:pPr>
            <a:r>
              <a:rPr lang="zh-CN" altLang="en-US" sz="20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结构是被逼出来的</a:t>
            </a:r>
            <a:endParaRPr lang="en-US" altLang="zh-CN" sz="2000" b="1" dirty="0">
              <a:solidFill>
                <a:srgbClr val="F7F7F5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id="{6806E61F-5B4C-BBCF-690B-EACCC44F7FD3}"/>
              </a:ext>
            </a:extLst>
          </p:cNvPr>
          <p:cNvSpPr txBox="1"/>
          <p:nvPr/>
        </p:nvSpPr>
        <p:spPr>
          <a:xfrm>
            <a:off x="524798" y="3211552"/>
            <a:ext cx="5115516" cy="1754326"/>
          </a:xfrm>
          <a:prstGeom prst="rect">
            <a:avLst/>
          </a:prstGeom>
          <a:noFill/>
        </p:spPr>
        <p:txBody>
          <a:bodyPr wrap="square" lIns="0" tIns="0" rIns="0" bIns="0" anchor="t" anchorCtr="0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寻找、显著性、到达预测、外部 KPI 全部保持默认 0，系统中不存在任何决策模块。</a:t>
            </a:r>
            <a:endParaRPr lang="en-US" altLang="zh-CN" sz="1200" dirty="0">
              <a:solidFill>
                <a:srgbClr val="F7F7F5">
                  <a:alpha val="8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SimHei"/>
            </a:endParaRP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前 300 拍分别饿通道 3 与通道 5，此后条件完全相同：饿过它 → 0.00004，没饿过 → 0.1495。</a:t>
            </a: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Δ = −0.1494 ± 0.0311，8/8 seeds 符号一致。记忆不在任何模块里，它在不可逆结构容量里。</a:t>
            </a:r>
            <a:endParaRPr lang="en-US" altLang="zh-CN" sz="1200" dirty="0">
              <a:solidFill>
                <a:srgbClr val="F7F7F5">
                  <a:alpha val="8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SimHei"/>
            </a:endParaRPr>
          </a:p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/>
            </a:r>
          </a:p>
        </p:txBody>
      </p:sp>
      <p:pic>
        <p:nvPicPr>
          <p:cNvPr id="6" name="图片 5">
            <a:extLst>
              <a:ext uri="{FF2B5EF4-FFF2-40B4-BE49-F238E27FC236}">
                <a16:creationId id="{897C9662-B38C-B5DE-1E8A-7267CAA454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val="0"/>
              </a:ext>
            </a:extLst>
          </a:blip>
          <a:srcRect t="20000" b="20000"/>
          <a:stretch>
            <a:fillRect/>
          </a:stretch>
        </p:blipFill>
        <p:spPr>
          <a:xfrm>
            <a:off x="6387950" y="2432835"/>
            <a:ext cx="5278739" cy="3167243"/>
          </a:xfrm>
          <a:prstGeom prst="rect">
            <a:avLst/>
          </a:prstGeom>
        </p:spPr>
      </p:pic>
    </p:spTree>
    <p:extLst>
      <p:ext uri="{BB962C8B-B14F-4D97-AF65-F5344CB8AC3E}">
        <p14:creationId val="2159064439"/>
      </p:ext>
    </p:extLst>
  </p:cSld>
  <p:clrMapOvr>
    <a:masterClrMapping/>
  </p:clrMapOvr>
</p:sld>
</file>

<file path=ppt/slides/slide21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spTree>
      <p:nvGrpSpPr>
        <p:cNvPr id="1" name="">
          <a:extLst>
            <a:ext uri="{FF2B5EF4-FFF2-40B4-BE49-F238E27FC236}">
              <a16:creationId id="{E9A56D42-03E7-1A8B-E125-C51771EBD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id="{5C622ECD-500A-0C92-D1CE-930651CD7945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131AEA49-1E70-E022-B818-12E045065410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zh-CN" alt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CB5D33EF-1846-9B1B-AF27-5A9FF9179169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  <p:sp>
          <p:nvSpPr>
            <p:cNvPr id="7" name="AutoShape 2">
              <a:extLst>
                <a:ext uri="{FF2B5EF4-FFF2-40B4-BE49-F238E27FC236}">
                  <a16:creationId id="{A96BF789-A9EC-FF1D-6EE0-3AD83C004375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7F7F5">
                      <a:alpha val="50000"/>
                    </a:srgbClr>
                  </a:solidFill>
                  <a:latin typeface="MiSans VF Light" pitchFamily="2" charset="-122"/>
                  <a:ea typeface="MiSans VF Light" pitchFamily="2" charset="-122"/>
                  <a:cs typeface="MiSans VF Light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</a:endParaRPr>
            </a:p>
          </p:txBody>
        </p:sp>
      </p:grpSp>
      <p:sp>
        <p:nvSpPr>
          <p:cNvPr id="9" name="AutoShape 2">
            <a:extLst>
              <a:ext uri="{FF2B5EF4-FFF2-40B4-BE49-F238E27FC236}">
                <a16:creationId id="{08F5986F-E04F-2B27-65E9-C8DBB67314B8}"/>
              </a:ext>
            </a:extLst>
          </p:cNvPr>
          <p:cNvSpPr/>
          <p:nvPr/>
        </p:nvSpPr>
        <p:spPr>
          <a:xfrm>
            <a:off x="524797" y="6295670"/>
            <a:ext cx="3077046" cy="141577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lnSpc>
                <a:spcPct val="125000"/>
              </a:lnSpc>
              <a:defRPr/>
            </a:pPr>
            <a:r>
              <a:rPr lang="en-US" altLang="zh-CN" sz="800" dirty="0">
                <a:solidFill>
                  <a:srgbClr val="F7F7F5">
                    <a:alpha val="5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JetBrains Mono"/>
              </a:rPr>
              <a:t/>
            </a:r>
            <a:endParaRPr lang="en-US" sz="800" dirty="0">
              <a:solidFill>
                <a:srgbClr val="F7F7F5">
                  <a:alpha val="50000"/>
                </a:srgbClr>
              </a:solidFill>
              <a:latin typeface="MiSans VF Light" pitchFamily="2" charset="-122"/>
              <a:ea typeface="MiSans VF Light" pitchFamily="2" charset="-122"/>
              <a:cs typeface="MiSans VF Light" pitchFamily="2" charset="-122"/>
              <a:sym typeface="JetBrains Mono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id="{DCE83B95-29A5-947E-5DB3-187F95E5CBD0}"/>
              </a:ext>
            </a:extLst>
          </p:cNvPr>
          <p:cNvSpPr txBox="1"/>
          <p:nvPr/>
        </p:nvSpPr>
        <p:spPr>
          <a:xfrm>
            <a:off x="9765793" y="1206343"/>
            <a:ext cx="19674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/>
            </a:pPr>
            <a:r>
              <a:rPr lang="en-US" altLang="zh-CN" b="1" i="1" dirty="0">
                <a:solidFill>
                  <a:srgbClr val="FF2B20"/>
                </a:solidFill>
                <a:latin typeface="Didot" panose="02000503000000020003" pitchFamily="2" charset="-79"/>
                <a:ea typeface="MiSans VF Bold" pitchFamily="2" charset="-122"/>
                <a:cs typeface="Didot" panose="02000503000000020003" pitchFamily="2" charset="-79"/>
                <a:sym typeface="SimHei"/>
              </a:rPr>
              <a:t>HARD CONSTRAINTS</a:t>
            </a:r>
            <a:endParaRPr lang="en-US" altLang="zh-CN" sz="1400" b="1" i="1" u="none" strike="noStrike" dirty="0">
              <a:solidFill>
                <a:srgbClr val="FF2B20"/>
              </a:solidFill>
              <a:latin typeface="Didot" panose="02000503000000020003" pitchFamily="2" charset="-79"/>
              <a:ea typeface="MiSans VF Bold" pitchFamily="2" charset="-122"/>
              <a:cs typeface="Didot" panose="02000503000000020003" pitchFamily="2" charset="-79"/>
              <a:sym typeface="SimHei"/>
            </a:endParaRPr>
          </a:p>
        </p:txBody>
      </p:sp>
      <p:sp>
        <p:nvSpPr>
          <p:cNvPr id="5" name="AutoShape 5">
            <a:extLst>
              <a:ext uri="{FF2B5EF4-FFF2-40B4-BE49-F238E27FC236}">
                <a16:creationId id="{E53B9922-51DF-FCFF-E55E-66B08B599EEC}"/>
              </a:ext>
            </a:extLst>
          </p:cNvPr>
          <p:cNvSpPr/>
          <p:nvPr/>
        </p:nvSpPr>
        <p:spPr>
          <a:xfrm>
            <a:off x="524798" y="1206344"/>
            <a:ext cx="7036061" cy="615553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defRPr/>
            </a:pPr>
            <a:r>
              <a:rPr lang="zh-CN" altLang="en-US" sz="4000" b="1" dirty="0">
                <a:solidFill>
                  <a:srgbClr val="F7F7F5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SimHei"/>
              </a:rPr>
              <a:t>五条硬约束 · 缺一不可</a:t>
            </a:r>
            <a:endParaRPr lang="en-US" altLang="zh-CN" sz="4000" b="1" dirty="0">
              <a:solidFill>
                <a:srgbClr val="F7F7F5"/>
              </a:solidFill>
              <a:latin typeface="MiSans VF Bold" pitchFamily="2" charset="-122"/>
              <a:ea typeface="MiSans VF Bold" pitchFamily="2" charset="-122"/>
              <a:cs typeface="MiSans VF Bold" pitchFamily="2" charset="-122"/>
              <a:sym typeface="Sim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id="{FEB81666-1C20-1EFA-1D42-2C2AF9CB3990}"/>
              </a:ext>
            </a:extLst>
          </p:cNvPr>
          <p:cNvSpPr/>
          <p:nvPr/>
        </p:nvSpPr>
        <p:spPr>
          <a:xfrm>
            <a:off x="3337401" y="2161017"/>
            <a:ext cx="2770674" cy="3821329"/>
          </a:xfrm>
          <a:prstGeom prst="rect">
            <a:avLst/>
          </a:prstGeom>
          <a:solidFill>
            <a:srgbClr val="FF5A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rgbClr val="FF5A4D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id="{D3A212B5-CE15-6C8C-CF6C-DBEB4EC619C3}"/>
              </a:ext>
            </a:extLst>
          </p:cNvPr>
          <p:cNvSpPr/>
          <p:nvPr/>
        </p:nvSpPr>
        <p:spPr>
          <a:xfrm>
            <a:off x="6150006" y="2161017"/>
            <a:ext cx="2770674" cy="3821329"/>
          </a:xfrm>
          <a:prstGeom prst="rect">
            <a:avLst/>
          </a:prstGeom>
          <a:solidFill>
            <a:srgbClr val="E62B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6" name="矩形 15">
            <a:extLst>
              <a:ext uri="{FF2B5EF4-FFF2-40B4-BE49-F238E27FC236}">
                <a16:creationId id="{722DE899-2D2B-01C0-9DB5-77A85CE2AB4D}"/>
              </a:ext>
            </a:extLst>
          </p:cNvPr>
          <p:cNvSpPr/>
          <p:nvPr/>
        </p:nvSpPr>
        <p:spPr>
          <a:xfrm>
            <a:off x="524796" y="2161017"/>
            <a:ext cx="2770674" cy="3821329"/>
          </a:xfrm>
          <a:prstGeom prst="rect">
            <a:avLst/>
          </a:prstGeom>
          <a:solidFill>
            <a:schemeClr val="bg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8" name="矩形 17">
            <a:extLst>
              <a:ext uri="{FF2B5EF4-FFF2-40B4-BE49-F238E27FC236}">
                <a16:creationId id="{FFBCF46D-4BC4-5DF1-EFAE-8761B68878B2}"/>
              </a:ext>
            </a:extLst>
          </p:cNvPr>
          <p:cNvSpPr/>
          <p:nvPr/>
        </p:nvSpPr>
        <p:spPr>
          <a:xfrm>
            <a:off x="8962610" y="2161017"/>
            <a:ext cx="2770674" cy="3821329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solidFill>
                <a:srgbClr val="F7F7F5"/>
              </a:solidFill>
            </a:endParaRPr>
          </a:p>
        </p:txBody>
      </p:sp>
      <p:sp>
        <p:nvSpPr>
          <p:cNvPr id="22" name="AutoShape 2">
            <a:extLst>
              <a:ext uri="{FF2B5EF4-FFF2-40B4-BE49-F238E27FC236}">
                <a16:creationId id="{73E5062A-D3D4-13B8-20D2-C8C6D80254BA}"/>
              </a:ext>
            </a:extLst>
          </p:cNvPr>
          <p:cNvSpPr/>
          <p:nvPr/>
        </p:nvSpPr>
        <p:spPr>
          <a:xfrm>
            <a:off x="690202" y="2295779"/>
            <a:ext cx="2432106" cy="615553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spAutoFit/>
          </a:bodyPr>
          <a:lstStyle/>
          <a:p>
            <a:pPr>
              <a:defRPr/>
            </a:pPr>
            <a:r>
              <a:rPr lang="en-US" altLang="zh-CN" sz="4000" dirty="0">
                <a:solidFill>
                  <a:srgbClr val="F7F7F5"/>
                </a:solidFill>
                <a:latin typeface="MiSans VF ExtraLight" pitchFamily="2" charset="-122"/>
                <a:ea typeface="MiSans VF ExtraLight" pitchFamily="2" charset="-122"/>
                <a:cs typeface="MiSans VF ExtraLight" pitchFamily="2" charset="-122"/>
                <a:sym typeface="ChillYunmoGothicBold"/>
              </a:rPr>
              <a:t>01</a:t>
            </a:r>
          </a:p>
        </p:txBody>
      </p:sp>
      <p:sp>
        <p:nvSpPr>
          <p:cNvPr id="23" name="AutoShape 5">
            <a:extLst>
              <a:ext uri="{FF2B5EF4-FFF2-40B4-BE49-F238E27FC236}">
                <a16:creationId id="{493DAB02-3340-2E61-8696-44B5A9480EB7}"/>
              </a:ext>
            </a:extLst>
          </p:cNvPr>
          <p:cNvSpPr/>
          <p:nvPr/>
        </p:nvSpPr>
        <p:spPr>
          <a:xfrm>
            <a:off x="694080" y="4754487"/>
            <a:ext cx="2432106" cy="246221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defRPr/>
            </a:pPr>
            <a:r>
              <a:rPr lang="zh-CN" altLang="en-US" sz="1600" dirty="0">
                <a:solidFill>
                  <a:srgbClr val="F7F7F5"/>
                </a:solidFill>
                <a:latin typeface="MiSans VF Demibold" pitchFamily="2" charset="-122"/>
                <a:ea typeface="MiSans VF Demibold" pitchFamily="2" charset="-122"/>
                <a:cs typeface="MiSans VF Demibold" pitchFamily="2" charset="-122"/>
                <a:sym typeface="SimHei"/>
              </a:rPr>
              <a:t>稀缺</a:t>
            </a:r>
            <a:endParaRPr lang="en-US" altLang="zh-CN" sz="1600" dirty="0">
              <a:solidFill>
                <a:srgbClr val="F7F7F5"/>
              </a:solidFill>
              <a:latin typeface="MiSans VF Demibold" pitchFamily="2" charset="-122"/>
              <a:ea typeface="MiSans VF Demibold" pitchFamily="2" charset="-122"/>
              <a:cs typeface="MiSans VF Demibold" pitchFamily="2" charset="-122"/>
              <a:sym typeface="SimHei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id="{80E520F8-7FD7-2A5E-CBDF-E9FFB2E9FB9E}"/>
              </a:ext>
            </a:extLst>
          </p:cNvPr>
          <p:cNvSpPr txBox="1"/>
          <p:nvPr/>
        </p:nvSpPr>
        <p:spPr>
          <a:xfrm>
            <a:off x="694080" y="5115367"/>
            <a:ext cx="2432107" cy="553998"/>
          </a:xfrm>
          <a:prstGeom prst="rect">
            <a:avLst/>
          </a:prstGeom>
          <a:noFill/>
        </p:spPr>
        <p:txBody>
          <a:bodyPr wrap="square" lIns="0" tIns="0" rIns="0" bIns="0" anchor="t" anchorCtr="0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每拍预算零和分配，分不到的就是 0，而不是少给一点</a:t>
            </a:r>
          </a:p>
        </p:txBody>
      </p:sp>
      <p:sp>
        <p:nvSpPr>
          <p:cNvPr id="26" name="AutoShape 5">
            <a:extLst>
              <a:ext uri="{FF2B5EF4-FFF2-40B4-BE49-F238E27FC236}">
                <a16:creationId id="{95F6DFF3-EC29-1BEB-7134-12FF3940FFA1}"/>
              </a:ext>
            </a:extLst>
          </p:cNvPr>
          <p:cNvSpPr/>
          <p:nvPr/>
        </p:nvSpPr>
        <p:spPr>
          <a:xfrm>
            <a:off x="3509199" y="4754487"/>
            <a:ext cx="2432106" cy="246221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defRPr/>
            </a:pPr>
            <a:r>
              <a:rPr lang="zh-CN" altLang="en-US" sz="1600" dirty="0">
                <a:solidFill>
                  <a:srgbClr val="F7F7F5"/>
                </a:solidFill>
                <a:latin typeface="MiSans VF Demibold" pitchFamily="2" charset="-122"/>
                <a:ea typeface="MiSans VF Demibold" pitchFamily="2" charset="-122"/>
                <a:cs typeface="MiSans VF Demibold" pitchFamily="2" charset="-122"/>
                <a:sym typeface="SimHei"/>
              </a:rPr>
              <a:t>不可逆</a:t>
            </a:r>
            <a:endParaRPr lang="en-US" altLang="zh-CN" sz="1600" dirty="0">
              <a:solidFill>
                <a:srgbClr val="F7F7F5"/>
              </a:solidFill>
              <a:latin typeface="MiSans VF Demibold" pitchFamily="2" charset="-122"/>
              <a:ea typeface="MiSans VF Demibold" pitchFamily="2" charset="-122"/>
              <a:cs typeface="MiSans VF Demibold" pitchFamily="2" charset="-122"/>
              <a:sym typeface="SimHei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id="{C92C47EB-CFA7-4A32-3B20-F7328BD33BD4}"/>
              </a:ext>
            </a:extLst>
          </p:cNvPr>
          <p:cNvSpPr txBox="1"/>
          <p:nvPr/>
        </p:nvSpPr>
        <p:spPr>
          <a:xfrm>
            <a:off x="3509199" y="5115367"/>
            <a:ext cx="2432107" cy="553998"/>
          </a:xfrm>
          <a:prstGeom prst="rect">
            <a:avLst/>
          </a:prstGeom>
          <a:noFill/>
        </p:spPr>
        <p:txBody>
          <a:bodyPr wrap="square" lIns="0" tIns="0" rIns="0" bIns="0" anchor="t" anchorCtr="0">
            <a:norm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996" dirty="0">
                <a:solidFill>
                  <a:srgbClr val="F7F7F5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长期饥饿使结构容量永久缩小，只减不增</a:t>
            </a:r>
          </a:p>
        </p:txBody>
      </p:sp>
      <p:sp>
        <p:nvSpPr>
          <p:cNvPr id="29" name="AutoShape 2">
            <a:extLst>
              <a:ext uri="{FF2B5EF4-FFF2-40B4-BE49-F238E27FC236}">
                <a16:creationId id="{7F0AAD2C-9B4C-02E9-F19C-37848927CBEA}"/>
              </a:ext>
            </a:extLst>
          </p:cNvPr>
          <p:cNvSpPr/>
          <p:nvPr/>
        </p:nvSpPr>
        <p:spPr>
          <a:xfrm>
            <a:off x="3509199" y="2295779"/>
            <a:ext cx="2363139" cy="615553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spAutoFit/>
          </a:bodyPr>
          <a:lstStyle/>
          <a:p>
            <a:pPr>
              <a:defRPr/>
            </a:pPr>
            <a:r>
              <a:rPr lang="en-US" altLang="zh-CN" sz="4000" dirty="0">
                <a:solidFill>
                  <a:srgbClr val="F7F7F5"/>
                </a:solidFill>
                <a:latin typeface="MiSans VF ExtraLight" pitchFamily="2" charset="-122"/>
                <a:ea typeface="MiSans VF ExtraLight" pitchFamily="2" charset="-122"/>
                <a:cs typeface="MiSans VF ExtraLight" pitchFamily="2" charset="-122"/>
                <a:sym typeface="ChillYunmoGothicBold"/>
              </a:rPr>
              <a:t>02</a:t>
            </a:r>
          </a:p>
        </p:txBody>
      </p:sp>
      <p:sp>
        <p:nvSpPr>
          <p:cNvPr id="31" name="AutoShape 5">
            <a:extLst>
              <a:ext uri="{FF2B5EF4-FFF2-40B4-BE49-F238E27FC236}">
                <a16:creationId id="{2BA66D56-EE33-C6F7-877B-F2CF6050D06F}"/>
              </a:ext>
            </a:extLst>
          </p:cNvPr>
          <p:cNvSpPr/>
          <p:nvPr/>
        </p:nvSpPr>
        <p:spPr>
          <a:xfrm>
            <a:off x="6316793" y="4754487"/>
            <a:ext cx="2432106" cy="246221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defRPr/>
            </a:pPr>
            <a:r>
              <a:rPr lang="zh-CN" altLang="en-US" sz="1600" dirty="0">
                <a:solidFill>
                  <a:srgbClr val="0B0B0C"/>
                </a:solidFill>
                <a:latin typeface="MiSans VF Demibold" pitchFamily="2" charset="-122"/>
                <a:ea typeface="MiSans VF Demibold" pitchFamily="2" charset="-122"/>
                <a:cs typeface="MiSans VF Demibold" pitchFamily="2" charset="-122"/>
                <a:sym typeface="SimHei"/>
              </a:rPr>
              <a:t>死亡</a:t>
            </a:r>
            <a:endParaRPr lang="en-US" altLang="zh-CN" sz="1600" dirty="0">
              <a:solidFill>
                <a:srgbClr val="0B0B0C"/>
              </a:solidFill>
              <a:latin typeface="MiSans VF Demibold" pitchFamily="2" charset="-122"/>
              <a:ea typeface="MiSans VF Demibold" pitchFamily="2" charset="-122"/>
              <a:cs typeface="MiSans VF Demibold" pitchFamily="2" charset="-122"/>
              <a:sym typeface="SimHei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id="{A4AB5211-EAF9-5E86-92D5-7C933B2E9B74}"/>
              </a:ext>
            </a:extLst>
          </p:cNvPr>
          <p:cNvSpPr txBox="1"/>
          <p:nvPr/>
        </p:nvSpPr>
        <p:spPr>
          <a:xfrm>
            <a:off x="6316793" y="5115367"/>
            <a:ext cx="2432107" cy="553998"/>
          </a:xfrm>
          <a:prstGeom prst="rect">
            <a:avLst/>
          </a:prstGeom>
          <a:noFill/>
        </p:spPr>
        <p:txBody>
          <a:bodyPr wrap="square" lIns="0" tIns="0" rIns="0" bIns="0" anchor="t" anchorCtr="0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0B0B0C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能量归零持续超过阈值即终止，不回滚、不重来</a:t>
            </a:r>
          </a:p>
        </p:txBody>
      </p:sp>
      <p:sp>
        <p:nvSpPr>
          <p:cNvPr id="33" name="AutoShape 2">
            <a:extLst>
              <a:ext uri="{FF2B5EF4-FFF2-40B4-BE49-F238E27FC236}">
                <a16:creationId id="{621AF9BD-F6EB-1276-E8FB-CCEAA09D0BD0}"/>
              </a:ext>
            </a:extLst>
          </p:cNvPr>
          <p:cNvSpPr/>
          <p:nvPr/>
        </p:nvSpPr>
        <p:spPr>
          <a:xfrm>
            <a:off x="6316793" y="2295779"/>
            <a:ext cx="2363139" cy="615553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spAutoFit/>
          </a:bodyPr>
          <a:lstStyle/>
          <a:p>
            <a:pPr>
              <a:defRPr/>
            </a:pPr>
            <a:r>
              <a:rPr lang="en-US" altLang="zh-CN" sz="4000" dirty="0">
                <a:solidFill>
                  <a:srgbClr val="0B0B0C"/>
                </a:solidFill>
                <a:latin typeface="MiSans VF ExtraLight" pitchFamily="2" charset="-122"/>
                <a:ea typeface="MiSans VF ExtraLight" pitchFamily="2" charset="-122"/>
                <a:cs typeface="MiSans VF ExtraLight" pitchFamily="2" charset="-122"/>
                <a:sym typeface="ChillYunmoGothicBold"/>
              </a:rPr>
              <a:t>03</a:t>
            </a:r>
          </a:p>
        </p:txBody>
      </p:sp>
      <p:sp>
        <p:nvSpPr>
          <p:cNvPr id="34" name="AutoShape 5">
            <a:extLst>
              <a:ext uri="{FF2B5EF4-FFF2-40B4-BE49-F238E27FC236}">
                <a16:creationId id="{23BDED98-DD94-A756-4A86-D8C9F7E4B51F}"/>
              </a:ext>
            </a:extLst>
          </p:cNvPr>
          <p:cNvSpPr/>
          <p:nvPr/>
        </p:nvSpPr>
        <p:spPr>
          <a:xfrm>
            <a:off x="9137266" y="4754487"/>
            <a:ext cx="2432106" cy="246221"/>
          </a:xfrm>
          <a:prstGeom prst="rect">
            <a:avLst/>
          </a:prstGeom>
          <a:noFill/>
          <a:ln w="16933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defRPr/>
            </a:pPr>
            <a:r>
              <a:rPr lang="zh-CN" altLang="en-US" sz="1600" dirty="0">
                <a:solidFill>
                  <a:srgbClr val="0B0B0C"/>
                </a:solidFill>
                <a:latin typeface="MiSans VF Demibold" pitchFamily="2" charset="-122"/>
                <a:ea typeface="MiSans VF Demibold" pitchFamily="2" charset="-122"/>
                <a:cs typeface="MiSans VF Demibold" pitchFamily="2" charset="-122"/>
                <a:sym typeface="SimHei"/>
              </a:rPr>
              <a:t>代谢与内生约束</a:t>
            </a:r>
            <a:endParaRPr lang="en-US" altLang="zh-CN" sz="1600" dirty="0">
              <a:solidFill>
                <a:srgbClr val="0B0B0C"/>
              </a:solidFill>
              <a:latin typeface="MiSans VF Demibold" pitchFamily="2" charset="-122"/>
              <a:ea typeface="MiSans VF Demibold" pitchFamily="2" charset="-122"/>
              <a:cs typeface="MiSans VF Demibold" pitchFamily="2" charset="-122"/>
              <a:sym typeface="SimHei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id="{7881EBDD-B6A6-7D0E-915F-3F06878DF33A}"/>
              </a:ext>
            </a:extLst>
          </p:cNvPr>
          <p:cNvSpPr txBox="1"/>
          <p:nvPr/>
        </p:nvSpPr>
        <p:spPr>
          <a:xfrm>
            <a:off x="9137266" y="5115367"/>
            <a:ext cx="2432107" cy="553998"/>
          </a:xfrm>
          <a:prstGeom prst="rect">
            <a:avLst/>
          </a:prstGeom>
          <a:noFill/>
        </p:spPr>
        <p:txBody>
          <a:bodyPr wrap="square" lIns="0" tIns="0" rIns="0" bIns="0" anchor="t" anchorCtr="0">
            <a:spAutoFit/>
          </a:bodyPr>
          <a:lstStyle/>
          <a:p>
            <a:pPr>
              <a:spcBef>
                <a:spcPts val="1200"/>
              </a:spcBef>
              <a:defRPr/>
            </a:pPr>
            <a:r>
              <a:rPr lang="zh-CN" altLang="en-US" sz="1200" dirty="0">
                <a:solidFill>
                  <a:srgbClr val="0B0B0C">
                    <a:alpha val="80000"/>
                  </a:srgbClr>
                </a:solidFill>
                <a:latin typeface="MiSans VF Light" pitchFamily="2" charset="-122"/>
                <a:ea typeface="MiSans VF Light" pitchFamily="2" charset="-122"/>
                <a:cs typeface="MiSans VF Light" pitchFamily="2" charset="-122"/>
                <a:sym typeface="SimHei"/>
              </a:rPr>
              <a:t>能量只能由自身产出换取，无外部拨款，外部不可写入</a:t>
            </a:r>
          </a:p>
        </p:txBody>
      </p:sp>
      <p:sp>
        <p:nvSpPr>
          <p:cNvPr id="36" name="AutoShape 2">
            <a:extLst>
              <a:ext uri="{FF2B5EF4-FFF2-40B4-BE49-F238E27FC236}">
                <a16:creationId id="{EA2C6C3F-2767-43CA-A5B5-E4FE8311C370}"/>
              </a:ext>
            </a:extLst>
          </p:cNvPr>
          <p:cNvSpPr/>
          <p:nvPr/>
        </p:nvSpPr>
        <p:spPr>
          <a:xfrm>
            <a:off x="9137266" y="2295779"/>
            <a:ext cx="2363139" cy="615553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spAutoFit/>
          </a:bodyPr>
          <a:lstStyle/>
          <a:p>
            <a:pPr>
              <a:defRPr/>
            </a:pPr>
            <a:r>
              <a:rPr lang="en-US" altLang="zh-CN" sz="4000" dirty="0">
                <a:solidFill>
                  <a:srgbClr val="0B0B0C"/>
                </a:solidFill>
                <a:latin typeface="MiSans VF ExtraLight" pitchFamily="2" charset="-122"/>
                <a:ea typeface="MiSans VF ExtraLight" pitchFamily="2" charset="-122"/>
                <a:cs typeface="MiSans VF ExtraLight" pitchFamily="2" charset="-122"/>
                <a:sym typeface="ChillYunmoGothicBold"/>
              </a:rPr>
              <a:t>04</a:t>
            </a:r>
          </a:p>
        </p:txBody>
      </p:sp>
    </p:spTree>
    <p:extLst>
      <p:ext uri="{BB962C8B-B14F-4D97-AF65-F5344CB8AC3E}">
        <p14:creationId val="3762049491"/>
      </p:ext>
    </p:extLst>
  </p:cSld>
  <p:clrMapOvr>
    <a:masterClrMapping/>
  </p:clrMapOvr>
</p:sld>
</file>

<file path=ppt/slides/slide22.xml><?xml version="1.0" encoding="utf-8"?>
<p:sld xmlns:a="http://schemas.openxmlformats.org/drawingml/2006/main" xmlns:a16="http://schemas.microsoft.com/office/drawing/2014/main" xmlns:p="http://schemas.openxmlformats.org/presentationml/2006/main" xmlns:p14="http://schemas.microsoft.com/office/powerpoint/2010/main">
  <p:cSld>
    <p:spTree>
      <p:nvGrpSpPr>
        <p:cNvPr id="1" name="">
          <a:extLst>
            <a:ext uri="{FF2B5EF4-FFF2-40B4-BE49-F238E27FC236}">
              <a16:creationId id="{7349FDC5-FDF4-7FD2-780E-5EE89B8A1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组合 72">
            <a:extLst>
              <a:ext uri="{FF2B5EF4-FFF2-40B4-BE49-F238E27FC236}">
                <a16:creationId id="{0EA2F5DE-0853-C193-C3CD-9D48178B25EC}"/>
              </a:ext>
            </a:extLst>
          </p:cNvPr>
          <p:cNvGrpSpPr/>
          <p:nvPr/>
        </p:nvGrpSpPr>
        <p:grpSpPr>
          <a:xfrm>
            <a:off x="-239398" y="-1280369"/>
            <a:ext cx="12667766" cy="9418738"/>
            <a:chOff x="-239398" y="-1280369"/>
            <a:chExt cx="12667766" cy="9418738"/>
          </a:xfrm>
        </p:grpSpPr>
        <p:cxnSp>
          <p:nvCxnSpPr>
            <p:cNvPr id="33" name="直线连接符 32">
              <a:extLst>
                <a:ext uri="{FF2B5EF4-FFF2-40B4-BE49-F238E27FC236}">
                  <a16:creationId id="{710FF954-B43A-BE19-3FD1-355DCC412BE8}"/>
                </a:ext>
              </a:extLst>
            </p:cNvPr>
            <p:cNvCxnSpPr>
              <a:cxnSpLocks/>
            </p:cNvCxnSpPr>
            <p:nvPr/>
          </p:nvCxnSpPr>
          <p:spPr>
            <a:xfrm>
              <a:off x="11945342" y="-1280369"/>
              <a:ext cx="19544" cy="94187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线连接符 36">
              <a:extLst>
                <a:ext uri="{FF2B5EF4-FFF2-40B4-BE49-F238E27FC236}">
                  <a16:creationId id="{8A192D3D-B8CF-E04E-52E2-05F76B348CE8}"/>
                </a:ext>
              </a:extLst>
            </p:cNvPr>
            <p:cNvCxnSpPr>
              <a:cxnSpLocks/>
            </p:cNvCxnSpPr>
            <p:nvPr/>
          </p:nvCxnSpPr>
          <p:spPr>
            <a:xfrm>
              <a:off x="243628" y="-1280369"/>
              <a:ext cx="19544" cy="94187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线连接符 37">
              <a:extLst>
                <a:ext uri="{FF2B5EF4-FFF2-40B4-BE49-F238E27FC236}">
                  <a16:creationId id="{2FB95525-E33D-A777-53F7-D923D18A8264}"/>
                </a:ext>
              </a:extLst>
            </p:cNvPr>
            <p:cNvCxnSpPr>
              <a:cxnSpLocks/>
            </p:cNvCxnSpPr>
            <p:nvPr/>
          </p:nvCxnSpPr>
          <p:spPr>
            <a:xfrm>
              <a:off x="524797" y="385358"/>
              <a:ext cx="0" cy="60829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线连接符 38">
              <a:extLst>
                <a:ext uri="{FF2B5EF4-FFF2-40B4-BE49-F238E27FC236}">
                  <a16:creationId id="{5490951A-7D22-C497-E212-A791A8FEA4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13761" y="6442064"/>
              <a:ext cx="12642129" cy="26232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线连接符 39">
              <a:extLst>
                <a:ext uri="{FF2B5EF4-FFF2-40B4-BE49-F238E27FC236}">
                  <a16:creationId id="{28A931E2-CCF1-A8EC-F133-DE46BC4603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39398" y="359072"/>
              <a:ext cx="12667766" cy="26286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线连接符 60">
              <a:extLst>
                <a:ext uri="{FF2B5EF4-FFF2-40B4-BE49-F238E27FC236}">
                  <a16:creationId id="{3DF79375-123D-8DC5-BDDB-E9333B501C76}"/>
                </a:ext>
              </a:extLst>
            </p:cNvPr>
            <p:cNvCxnSpPr>
              <a:cxnSpLocks/>
            </p:cNvCxnSpPr>
            <p:nvPr/>
          </p:nvCxnSpPr>
          <p:spPr>
            <a:xfrm>
              <a:off x="6074941" y="-1280369"/>
              <a:ext cx="19544" cy="94187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线连接符 69">
              <a:extLst>
                <a:ext uri="{FF2B5EF4-FFF2-40B4-BE49-F238E27FC236}">
                  <a16:creationId id="{A274FC72-51A4-2C18-9663-6EB86BD49650}"/>
                </a:ext>
              </a:extLst>
            </p:cNvPr>
            <p:cNvCxnSpPr>
              <a:cxnSpLocks/>
            </p:cNvCxnSpPr>
            <p:nvPr/>
          </p:nvCxnSpPr>
          <p:spPr>
            <a:xfrm>
              <a:off x="11733284" y="359233"/>
              <a:ext cx="0" cy="6082938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线连接符 71">
              <a:extLst>
                <a:ext uri="{FF2B5EF4-FFF2-40B4-BE49-F238E27FC236}">
                  <a16:creationId id="{C61EC69F-3F8F-B7B4-0417-F2A8DA49E1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239398" y="3426122"/>
              <a:ext cx="12667766" cy="26286"/>
            </a:xfrm>
            <a:prstGeom prst="line">
              <a:avLst/>
            </a:prstGeom>
            <a:ln w="6350" cmpd="sng">
              <a:solidFill>
                <a:srgbClr val="FF5A4D">
                  <a:alpha val="20000"/>
                </a:srgb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AutoShape 2">
            <a:extLst>
              <a:ext uri="{FF2B5EF4-FFF2-40B4-BE49-F238E27FC236}">
                <a16:creationId id="{085295BA-ABF1-D39D-B79C-76D7BB6F58C7}"/>
              </a:ext>
            </a:extLst>
          </p:cNvPr>
          <p:cNvSpPr/>
          <p:nvPr/>
        </p:nvSpPr>
        <p:spPr>
          <a:xfrm>
            <a:off x="524799" y="4577497"/>
            <a:ext cx="11208479" cy="897682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b" anchorCtr="0">
            <a:spAutoFit/>
          </a:bodyPr>
          <a:lstStyle/>
          <a:p>
            <a:pPr>
              <a:lnSpc>
                <a:spcPts val="7000"/>
              </a:lnSpc>
              <a:defRPr/>
            </a:pPr>
            <a:r>
              <a:rPr lang="zh-CN" altLang="en-US" sz="6200" b="1" dirty="0">
                <a:solidFill>
                  <a:srgbClr val="FF2B20"/>
                </a:solidFill>
                <a:latin typeface="MiSans VF Bold" pitchFamily="2" charset="-122"/>
                <a:ea typeface="MiSans VF Bold" pitchFamily="2" charset="-122"/>
                <a:cs typeface="MiSans VF Bold" pitchFamily="2" charset="-122"/>
                <a:sym typeface="ChillYunmoGothicBold"/>
              </a:rPr>
              <a:t>谢谢</a:t>
            </a:r>
            <a:endParaRPr lang="en-US" altLang="zh-CN" sz="6200" dirty="0">
              <a:solidFill>
                <a:srgbClr val="F7F7F5"/>
              </a:solidFill>
              <a:latin typeface="MiSans VF ExtraLight" pitchFamily="2" charset="-122"/>
              <a:ea typeface="MiSans VF ExtraLight" pitchFamily="2" charset="-122"/>
              <a:cs typeface="MiSans VF ExtraLight" pitchFamily="2" charset="-122"/>
              <a:sym typeface="ChillYunmoGothicBold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id="{257ACB28-3EED-3F65-E9BE-2B42F329609E}"/>
              </a:ext>
            </a:extLst>
          </p:cNvPr>
          <p:cNvGrpSpPr/>
          <p:nvPr/>
        </p:nvGrpSpPr>
        <p:grpSpPr>
          <a:xfrm>
            <a:off x="524797" y="385358"/>
            <a:ext cx="11208487" cy="141577"/>
            <a:chOff x="524797" y="385358"/>
            <a:chExt cx="11208487" cy="141577"/>
          </a:xfrm>
        </p:grpSpPr>
        <p:sp>
          <p:nvSpPr>
            <p:cNvPr id="3" name="AutoShape 2">
              <a:extLst>
                <a:ext uri="{FF2B5EF4-FFF2-40B4-BE49-F238E27FC236}">
                  <a16:creationId id="{F431B32F-9C1F-4103-F9F6-2350B5AC7C03}"/>
                </a:ext>
              </a:extLst>
            </p:cNvPr>
            <p:cNvSpPr/>
            <p:nvPr/>
          </p:nvSpPr>
          <p:spPr>
            <a:xfrm>
              <a:off x="524797" y="385358"/>
              <a:ext cx="3077046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F2B20"/>
                  </a:solidFill>
                  <a:latin typeface="MiSans VF Demibold" pitchFamily="2" charset="-122"/>
                  <a:ea typeface="MiSans VF Demibold" pitchFamily="2" charset="-122"/>
                  <a:cs typeface="MiSans VF Demibold" pitchFamily="2" charset="-122"/>
                  <a:sym typeface="JetBrains Mono"/>
                </a:rPr>
                <a:t/>
              </a:r>
              <a:r>
                <a:rPr lang="zh-CN" altLang="en-US" sz="800" dirty="0">
                  <a:solidFill>
                    <a:srgbClr val="FF2B20"/>
                  </a:solidFill>
                  <a:latin typeface="MiSans VF Demibold" pitchFamily="2" charset="-122"/>
                  <a:ea typeface="MiSans VF Demibold" pitchFamily="2" charset="-122"/>
                  <a:cs typeface="MiSans VF Demibold" pitchFamily="2" charset="-122"/>
                  <a:sym typeface="JetBrains Mono"/>
                </a:rPr>
                <a:t/>
              </a:r>
              <a:r>
                <a:rPr lang="en-US" altLang="zh-CN" sz="800" dirty="0">
                  <a:solidFill>
                    <a:srgbClr val="FF2B20"/>
                  </a:solidFill>
                  <a:latin typeface="MiSans VF Demibold" pitchFamily="2" charset="-122"/>
                  <a:ea typeface="MiSans VF Demibold" pitchFamily="2" charset="-122"/>
                  <a:cs typeface="MiSans VF Demibold" pitchFamily="2" charset="-122"/>
                  <a:sym typeface="JetBrains Mono"/>
                </a:rPr>
                <a:t/>
              </a:r>
              <a:endParaRPr lang="en-US" sz="800" dirty="0">
                <a:solidFill>
                  <a:srgbClr val="FF2B20"/>
                </a:solidFill>
                <a:latin typeface="MiSans VF Demibold" pitchFamily="2" charset="-122"/>
                <a:ea typeface="MiSans VF Demibold" pitchFamily="2" charset="-122"/>
                <a:cs typeface="MiSans VF Demibold" pitchFamily="2" charset="-122"/>
                <a:sym typeface="JetBrains Mono"/>
              </a:endParaRPr>
            </a:p>
          </p:txBody>
        </p:sp>
        <p:sp>
          <p:nvSpPr>
            <p:cNvPr id="4" name="AutoShape 2">
              <a:extLst>
                <a:ext uri="{FF2B5EF4-FFF2-40B4-BE49-F238E27FC236}">
                  <a16:creationId id="{6DC2AEBD-02CA-4EC1-3D3D-04B1C782DEE1}"/>
                </a:ext>
              </a:extLst>
            </p:cNvPr>
            <p:cNvSpPr/>
            <p:nvPr/>
          </p:nvSpPr>
          <p:spPr>
            <a:xfrm>
              <a:off x="5640314" y="385358"/>
              <a:ext cx="911371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ctr">
                <a:lnSpc>
                  <a:spcPct val="125000"/>
                </a:lnSpc>
                <a:defRPr/>
              </a:pPr>
              <a:r>
                <a:rPr lang="en-US" altLang="zh-CN" sz="800" dirty="0">
                  <a:solidFill>
                    <a:srgbClr val="FF2B20"/>
                  </a:solidFill>
                  <a:latin typeface="MiSans VF Demibold" pitchFamily="2" charset="-122"/>
                  <a:ea typeface="MiSans VF Demibold" pitchFamily="2" charset="-122"/>
                  <a:cs typeface="MiSans VF Demibold" pitchFamily="2" charset="-122"/>
                  <a:sym typeface="JetBrains Mono"/>
                </a:rPr>
                <a:t>2026</a:t>
              </a:r>
              <a:endParaRPr lang="en-US" sz="800" dirty="0">
                <a:solidFill>
                  <a:srgbClr val="FF2B20"/>
                </a:solidFill>
                <a:latin typeface="MiSans VF Demibold" pitchFamily="2" charset="-122"/>
                <a:ea typeface="MiSans VF Demibold" pitchFamily="2" charset="-122"/>
                <a:cs typeface="MiSans VF Demibold" pitchFamily="2" charset="-122"/>
              </a:endParaRPr>
            </a:p>
          </p:txBody>
        </p:sp>
        <p:sp>
          <p:nvSpPr>
            <p:cNvPr id="5" name="AutoShape 2">
              <a:extLst>
                <a:ext uri="{FF2B5EF4-FFF2-40B4-BE49-F238E27FC236}">
                  <a16:creationId id="{F9DE4BDF-B21D-76D5-1E11-5F37DD1FCEE5}"/>
                </a:ext>
              </a:extLst>
            </p:cNvPr>
            <p:cNvSpPr/>
            <p:nvPr/>
          </p:nvSpPr>
          <p:spPr>
            <a:xfrm>
              <a:off x="8133284" y="385358"/>
              <a:ext cx="3600000" cy="141577"/>
            </a:xfrm>
            <a:prstGeom prst="rect">
              <a:avLst/>
            </a:prstGeom>
            <a:noFill/>
            <a:ln w="16933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t" anchorCtr="0">
              <a:spAutoFit/>
            </a:bodyPr>
            <a:lstStyle/>
            <a:p>
              <a:pPr algn="r">
                <a:lnSpc>
                  <a:spcPct val="125000"/>
                </a:lnSpc>
                <a:defRPr/>
              </a:pPr>
              <a:r>
                <a:rPr lang="en-US" sz="800" dirty="0">
                  <a:solidFill>
                    <a:srgbClr val="FF2B20"/>
                  </a:solidFill>
                  <a:latin typeface="MiSans VF Demibold" pitchFamily="2" charset="-122"/>
                  <a:ea typeface="MiSans VF Demibold" pitchFamily="2" charset="-122"/>
                  <a:cs typeface="MiSans VF Demibold" pitchFamily="2" charset="-122"/>
                  <a:sym typeface="JetBrains Mono"/>
                </a:rPr>
                <a:t>COVER</a:t>
              </a:r>
              <a:endParaRPr lang="en-US" sz="800" dirty="0">
                <a:solidFill>
                  <a:srgbClr val="FF2B20"/>
                </a:solidFill>
                <a:latin typeface="MiSans VF Demibold" pitchFamily="2" charset="-122"/>
                <a:ea typeface="MiSans VF Demibold" pitchFamily="2" charset="-122"/>
                <a:cs typeface="MiSans VF Demibold" pitchFamily="2" charset="-122"/>
              </a:endParaRPr>
            </a:p>
          </p:txBody>
        </p:sp>
      </p:grpSp>
      <p:sp>
        <p:nvSpPr>
          <p:cNvPr id="6" name="AutoShape 2">
            <a:extLst>
              <a:ext uri="{FF2B5EF4-FFF2-40B4-BE49-F238E27FC236}">
                <a16:creationId id="{E287DB41-1152-A4A0-E7BC-F8935D74AE4A}"/>
              </a:ext>
            </a:extLst>
          </p:cNvPr>
          <p:cNvSpPr/>
          <p:nvPr/>
        </p:nvSpPr>
        <p:spPr>
          <a:xfrm>
            <a:off x="524799" y="5504402"/>
            <a:ext cx="11208479" cy="897682"/>
          </a:xfrm>
          <a:prstGeom prst="roundRect">
            <a:avLst>
              <a:gd name="adj" fmla="val 0"/>
            </a:avLst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b" anchorCtr="0">
            <a:spAutoFit/>
          </a:bodyPr>
          <a:lstStyle/>
          <a:p>
            <a:pPr>
              <a:lnSpc>
                <a:spcPts val="7000"/>
              </a:lnSpc>
              <a:defRPr/>
            </a:pPr>
            <a:r>
              <a:rPr lang="en-US" altLang="zh-CN" sz="6200" dirty="0">
                <a:solidFill>
                  <a:srgbClr val="F7F7F5"/>
                </a:solidFill>
                <a:latin typeface="MiSans VF ExtraLight" pitchFamily="2" charset="-122"/>
                <a:ea typeface="MiSans VF ExtraLight" pitchFamily="2" charset="-122"/>
                <a:cs typeface="MiSans VF ExtraLight" pitchFamily="2" charset="-122"/>
                <a:sym typeface="ChillYunmoGothicBold"/>
              </a:rPr>
              <a:t>THANKS</a:t>
            </a:r>
            <a:r>
              <a:rPr lang="zh-CN" altLang="en-US" sz="6200" dirty="0">
                <a:solidFill>
                  <a:srgbClr val="F7F7F5"/>
                </a:solidFill>
                <a:latin typeface="MiSans VF ExtraLight" pitchFamily="2" charset="-122"/>
                <a:ea typeface="MiSans VF ExtraLight" pitchFamily="2" charset="-122"/>
                <a:cs typeface="MiSans VF ExtraLight" pitchFamily="2" charset="-122"/>
                <a:sym typeface="ChillYunmoGothicBold"/>
              </a:rPr>
              <a:t/>
            </a:r>
            <a:r>
              <a:rPr lang="en-US" altLang="zh-CN" sz="6200" dirty="0">
                <a:solidFill>
                  <a:srgbClr val="F7F7F5"/>
                </a:solidFill>
                <a:latin typeface="MiSans VF ExtraLight" pitchFamily="2" charset="-122"/>
                <a:ea typeface="MiSans VF ExtraLight" pitchFamily="2" charset="-122"/>
                <a:cs typeface="MiSans VF ExtraLight" pitchFamily="2" charset="-122"/>
                <a:sym typeface="ChillYunmoGothicBold"/>
              </a:rPr>
              <a:t/>
            </a:r>
            <a:r>
              <a:rPr lang="zh-CN" altLang="en-US" sz="6200" dirty="0">
                <a:solidFill>
                  <a:srgbClr val="F7F7F5"/>
                </a:solidFill>
                <a:latin typeface="MiSans VF ExtraLight" pitchFamily="2" charset="-122"/>
                <a:ea typeface="MiSans VF ExtraLight" pitchFamily="2" charset="-122"/>
                <a:cs typeface="MiSans VF ExtraLight" pitchFamily="2" charset="-122"/>
                <a:sym typeface="ChillYunmoGothicBold"/>
              </a:rPr>
              <a:t/>
            </a:r>
            <a:r>
              <a:rPr lang="en-US" altLang="zh-CN" sz="6200" dirty="0">
                <a:solidFill>
                  <a:srgbClr val="F7F7F5"/>
                </a:solidFill>
                <a:latin typeface="MiSans VF ExtraLight" pitchFamily="2" charset="-122"/>
                <a:ea typeface="MiSans VF ExtraLight" pitchFamily="2" charset="-122"/>
                <a:cs typeface="MiSans VF ExtraLight" pitchFamily="2" charset="-122"/>
                <a:sym typeface="ChillYunmoGothicBold"/>
              </a:rPr>
              <a:t/>
            </a:r>
          </a:p>
        </p:txBody>
      </p:sp>
    </p:spTree>
    <p:extLst>
      <p:ext uri="{BB962C8B-B14F-4D97-AF65-F5344CB8AC3E}">
        <p14:creationId val="711464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F7F7F5"/>
      </a:dk1>
      <a:lt1>
        <a:srgbClr val="111111"/>
      </a:lt1>
      <a:dk2>
        <a:srgbClr val="E6E6E6"/>
      </a:dk2>
      <a:lt2>
        <a:srgbClr val="191919"/>
      </a:lt2>
      <a:accent1>
        <a:srgbClr val="FF2B20"/>
      </a:accent1>
      <a:accent2>
        <a:srgbClr val="FF2B20"/>
      </a:accent2>
      <a:accent3>
        <a:srgbClr val="6A6A6A"/>
      </a:accent3>
      <a:accent4>
        <a:srgbClr val="111111"/>
      </a:accent4>
      <a:accent5>
        <a:srgbClr val="FF5A4D"/>
      </a:accent5>
      <a:accent6>
        <a:srgbClr val="242424"/>
      </a:accent6>
      <a:hlink>
        <a:srgbClr val="E62B1E"/>
      </a:hlink>
      <a:folHlink>
        <a:srgbClr val="9A9A9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F7F7F5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F7F7F5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F7F7F5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商务-橙黑" id="{CA2A6BEA-C645-764A-85DF-7208A746DD44}" vid="{3F1BCB72-47A7-154D-B48F-676CE577D7B9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F7F7F5"/>
      </a:dk1>
      <a:lt1>
        <a:srgbClr val="111111"/>
      </a:lt1>
      <a:dk2>
        <a:srgbClr val="E6E6E6"/>
      </a:dk2>
      <a:lt2>
        <a:srgbClr val="191919"/>
      </a:lt2>
      <a:accent1>
        <a:srgbClr val="FF2B20"/>
      </a:accent1>
      <a:accent2>
        <a:srgbClr val="FF2B20"/>
      </a:accent2>
      <a:accent3>
        <a:srgbClr val="6A6A6A"/>
      </a:accent3>
      <a:accent4>
        <a:srgbClr val="111111"/>
      </a:accent4>
      <a:accent5>
        <a:srgbClr val="FF5A4D"/>
      </a:accent5>
      <a:accent6>
        <a:srgbClr val="242424"/>
      </a:accent6>
      <a:hlink>
        <a:srgbClr val="E62B1E"/>
      </a:hlink>
      <a:folHlink>
        <a:srgbClr val="9A9A9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F7F7F5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F7F7F5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F7F7F5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商务-橙黑" id="{CA2A6BEA-C645-764A-85DF-7208A746DD44}" vid="{312940A9-D1B4-6B48-B3B8-47ECED890AF0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F7F7F5"/>
      </a:dk1>
      <a:lt1>
        <a:srgbClr val="111111"/>
      </a:lt1>
      <a:dk2>
        <a:srgbClr val="E6E6E6"/>
      </a:dk2>
      <a:lt2>
        <a:srgbClr val="191919"/>
      </a:lt2>
      <a:accent1>
        <a:srgbClr val="FF2B20"/>
      </a:accent1>
      <a:accent2>
        <a:srgbClr val="FF2B20"/>
      </a:accent2>
      <a:accent3>
        <a:srgbClr val="6A6A6A"/>
      </a:accent3>
      <a:accent4>
        <a:srgbClr val="111111"/>
      </a:accent4>
      <a:accent5>
        <a:srgbClr val="FF5A4D"/>
      </a:accent5>
      <a:accent6>
        <a:srgbClr val="242424"/>
      </a:accent6>
      <a:hlink>
        <a:srgbClr val="E62B1E"/>
      </a:hlink>
      <a:folHlink>
        <a:srgbClr val="9A9A9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F7F7F5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F7F7F5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F7F7F5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主题​​</Template>
  <TotalTime>128</TotalTime>
  <Words>2028</Words>
  <Application>Microsoft Macintosh PowerPoint</Application>
  <PresentationFormat>宽屏</PresentationFormat>
  <Paragraphs>272</Paragraphs>
  <Slides>22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22</vt:i4>
      </vt:variant>
    </vt:vector>
  </HeadingPairs>
  <TitlesOfParts>
    <vt:vector size="31" baseType="lpstr">
      <vt:lpstr>Arial</vt:lpstr>
      <vt:lpstr>Didot</vt:lpstr>
      <vt:lpstr>MiSans VF Bold</vt:lpstr>
      <vt:lpstr>MiSans VF Demibold</vt:lpstr>
      <vt:lpstr>MiSans VF ExtraLight</vt:lpstr>
      <vt:lpstr>MiSans VF Light</vt:lpstr>
      <vt:lpstr>MiSans VF Thin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T209833</dc:creator>
  <cp:lastModifiedBy>T209833</cp:lastModifiedBy>
  <cp:revision>13</cp:revision>
  <dcterms:created xsi:type="dcterms:W3CDTF">2026-06-02T14:06:00Z</dcterms:created>
  <dcterms:modified xsi:type="dcterms:W3CDTF">2026-06-18T08:16:38Z</dcterms:modified>
</cp:coreProperties>
</file>